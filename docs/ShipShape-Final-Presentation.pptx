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7ACC"/>
                </a:solidFill>
              </a:defRPr>
            </a:pPr>
            <a:r>
              <a:t>ShipShape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Performance Audit &amp; Optimization — Final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EC9B0"/>
                </a:solidFill>
              </a:defRPr>
            </a:pPr>
            <a:r>
              <a:t>7 Categories | 24 Specs | All Targets Met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</a:defRPr>
            </a:pPr>
            <a:r>
              <a:t>Phase 2: Implementation | Phase 3: Test Coverage &amp; CI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ACC"/>
                </a:solidFill>
              </a:defRPr>
            </a:pPr>
            <a:r>
              <a:t>Executive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515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685800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00568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Categories improved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7 of 7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Targets met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7 of 7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Specs implemented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24 (Phase 2) + 30+ commits (Phase 3)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Tests restored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+1,012 (30% to 99.5%)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Type violations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-44% explicit (-82% any)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API response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-50% wiki p99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DB queries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-36% main page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WCAG violations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13 of 13 fixed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Silent failures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5 of 6 fixed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CI pipeline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8-shard, ~5 min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ACC"/>
                </a:solidFill>
              </a:defRPr>
            </a:pPr>
            <a:r>
              <a:t>All 7 Targets Met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94183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560320"/>
                <a:gridCol w="2286000"/>
                <a:gridCol w="1371600"/>
                <a:gridCol w="1371600"/>
              </a:tblGrid>
              <a:tr h="5715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After</a:t>
                      </a:r>
                    </a:p>
                  </a:txBody>
                  <a:tcPr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00568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Type Safety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708 explicit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397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-44%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MET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Bundle Size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2,073 KB monolith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955 KB largest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-54%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MET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API Response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142ms wiki p99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71ms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-50%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MET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DB Queries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25 queries/page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~16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-36%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MET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Test Coverage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451/1,479 (30%)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1,463/1,471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+1,012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EXCEEDED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Error Handling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6 silent failures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 remaining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5 fixed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EXCEEDED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Accessibility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3 Crit + 10 Serious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0 + 0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-13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MET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ACC"/>
                </a:solidFill>
              </a:defRPr>
            </a:pPr>
            <a:r>
              <a:t>Cat 1: Type Safety — MET (44%)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5029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914400"/>
                <a:gridCol w="914400"/>
              </a:tblGrid>
              <a:tr h="51206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Violation</a:t>
                      </a:r>
                    </a:p>
                  </a:txBody>
                  <a:tcPr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Before</a:t>
                      </a:r>
                    </a:p>
                  </a:txBody>
                  <a:tcPr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After</a:t>
                      </a:r>
                    </a:p>
                  </a:txBody>
                  <a:tcPr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>
                    <a:solidFill>
                      <a:srgbClr val="00568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Explicit any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392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-82%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Type assertions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280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283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+1%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Non-null (!)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+23%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Total explicit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708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397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-44%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What Changed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  <a:r>
              <a:t>DB Row Types — Typed all query results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  <a:r>
              <a:t>Discriminated Union — Auto-narrows on doc type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  <a:r>
              <a:t>Yjs Converter — 15 any types eliminated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  <a:r>
              <a:t>Strict tsconfig — 102 new errors fixed</a:t>
            </a:r>
          </a:p>
          <a:p>
            <a:pPr>
              <a:spcBef>
                <a:spcPts val="600"/>
              </a:spcBef>
              <a:defRPr sz="1400" b="0">
                <a:solidFill>
                  <a:srgbClr val="DCDCAA"/>
                </a:solidFill>
              </a:defRPr>
            </a:pPr>
            <a:r>
              <a:t>Tradeoff: 25 non-null assertions added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ACC"/>
                </a:solidFill>
              </a:defRPr>
            </a:pPr>
            <a:r>
              <a:t>Cat 2: Bundle Size — MET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058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743200"/>
                <a:gridCol w="2286000"/>
                <a:gridCol w="1828800"/>
              </a:tblGrid>
              <a:tr h="533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Before</a:t>
                      </a:r>
                    </a:p>
                  </a:txBody>
                  <a:tcPr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After</a:t>
                      </a:r>
                    </a:p>
                  </a:txBody>
                  <a:tcPr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>
                    <a:solidFill>
                      <a:srgbClr val="00568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Largest chunk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2,073 KB (94%)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955 KB (32%)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-54%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Deferred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0 KB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784 KB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New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Route splits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 monolith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23 chunks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+22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Emoji picker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Always (271 KB)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Lazy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Deferred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Highlight.js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Always (195 KB)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Lazy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Deferred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029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</a:defRPr>
            </a:pPr>
            <a:r>
              <a:t>Before: /login downloaded entire app. After: each route loads only what it needs.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ACC"/>
                </a:solidFill>
              </a:defRPr>
            </a:pPr>
            <a:r>
              <a:t>Cat 3: API Response Time — MET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058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286000"/>
                <a:gridCol w="2286000"/>
                <a:gridCol w="1828800"/>
              </a:tblGrid>
              <a:tr h="5715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Before p99</a:t>
                      </a:r>
                    </a:p>
                  </a:txBody>
                  <a:tcPr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After p99</a:t>
                      </a:r>
                    </a:p>
                  </a:txBody>
                  <a:tcPr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>
                    <a:solidFill>
                      <a:srgbClr val="00568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Wiki docs (c=50)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142ms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71ms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-50%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Issues paginated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120ms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76ms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-37%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Issues payload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310 KB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47 KB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-85%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9319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  <a:r>
              <a:t>Pool: pg-pool max 20 to 25 — eliminated contention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  <a:r>
              <a:t>Content: Dropped d.content from issues SELECT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  <a:r>
              <a:t>Pagination: 218 issues to 50/page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ACC"/>
                </a:solidFill>
              </a:defRPr>
            </a:pPr>
            <a:r>
              <a:t>Cat 4: DB Queries — MET on ALL flows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5943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371600"/>
                <a:gridCol w="1371600"/>
              </a:tblGrid>
              <a:tr h="52251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Flow</a:t>
                      </a:r>
                    </a:p>
                  </a:txBody>
                  <a:tcPr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Before</a:t>
                      </a:r>
                    </a:p>
                  </a:txBody>
                  <a:tcPr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After</a:t>
                      </a:r>
                    </a:p>
                  </a:txBody>
                  <a:tcPr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>
                    <a:solidFill>
                      <a:srgbClr val="00568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Main page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~16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-36%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View doc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~2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-50%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Issues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~4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-20%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Sprint board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~10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-38%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Search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~6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-33%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Auth/request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-67%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0" y="13716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Key: Auth Consolidation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  <a:r>
              <a:t>3 auth queries per request = 60% of page load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  <a:r>
              <a:t>Single JOIN + 60s throttle = -67%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ACC"/>
                </a:solidFill>
              </a:defRPr>
            </a:pPr>
            <a:r>
              <a:t>Cat 5: Test Coverage — EXCEEDED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3200400"/>
              </a:tblGrid>
              <a:tr h="52251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Phase 2</a:t>
                      </a:r>
                    </a:p>
                  </a:txBody>
                  <a:tcPr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Phase 3</a:t>
                      </a:r>
                    </a:p>
                  </a:txBody>
                  <a:tcPr>
                    <a:solidFill>
                      <a:srgbClr val="00568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Passing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451 (30%)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1,444 (99%)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1,463 (99.5%)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Web unit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0/162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138/151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151/151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E2E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Not run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855/855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861/869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Failures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4 pre-existing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Flaky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4 pre-existing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CI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~5 min (8 shards)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B0"/>
                </a:solidFill>
              </a:defRPr>
            </a:pPr>
            <a:r>
              <a:t>+1,012 tests restored. 30% to 99.5% operational.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ACC"/>
                </a:solidFill>
              </a:defRPr>
            </a:pPr>
            <a:r>
              <a:t>Cat 5: Flaky Test Root Causes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371600"/>
                <a:gridCol w="548640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Pattern</a:t>
                      </a:r>
                    </a:p>
                  </a:txBody>
                  <a:tcPr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Tests</a:t>
                      </a:r>
                    </a:p>
                  </a:txBody>
                  <a:tcPr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Fix</a:t>
                      </a:r>
                    </a:p>
                  </a:txBody>
                  <a:tcPr>
                    <a:solidFill>
                      <a:srgbClr val="00568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networkidle + WebSockets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21+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Remove — WS prevents idle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waitForTimeout(N)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15+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toBeVisible() or toPass()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Non-retrying assertions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Auto-retry assertions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Meta+ on Linux CI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ControlOrMeta+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Silent-pass guards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Remove — fail visibly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3891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44E4E"/>
                </a:solidFill>
              </a:defRPr>
            </a:pPr>
            <a:r>
              <a:t>App Bugs Discovered</a:t>
            </a:r>
          </a:p>
          <a:p>
            <a:pPr>
              <a:spcBef>
                <a:spcPts val="600"/>
              </a:spcBef>
              <a:defRPr sz="1500" b="0">
                <a:solidFill>
                  <a:srgbClr val="F44E4E"/>
                </a:solidFill>
              </a:defRPr>
            </a:pPr>
            <a:r>
              <a:t>Yjs character truncation during DB persistence</a:t>
            </a:r>
          </a:p>
          <a:p>
            <a:pPr>
              <a:spcBef>
                <a:spcPts val="600"/>
              </a:spcBef>
              <a:defRPr sz="1500" b="0">
                <a:solidFill>
                  <a:srgbClr val="F44E4E"/>
                </a:solidFill>
              </a:defRPr>
            </a:pPr>
            <a:r>
              <a:t>TipTap code block input rule doesn't fire twice</a:t>
            </a:r>
          </a:p>
          <a:p>
            <a:pPr>
              <a:spcBef>
                <a:spcPts val="600"/>
              </a:spcBef>
              <a:defRPr sz="1500" b="0">
                <a:solidFill>
                  <a:srgbClr val="F44E4E"/>
                </a:solidFill>
              </a:defRPr>
            </a:pPr>
            <a:r>
              <a:t>WCAG 1.4.13 vs 2.5.8 conflict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ACC"/>
                </a:solidFill>
              </a:defRPr>
            </a:pPr>
            <a:r>
              <a:t>Cat 6: Error Handling — EXCEEDED (5/6)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  <a:gridCol w="4114800"/>
              </a:tblGrid>
              <a:tr h="533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Failure</a:t>
                      </a:r>
                    </a:p>
                  </a:txBody>
                  <a:tcPr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Before</a:t>
                      </a:r>
                    </a:p>
                  </a:txBody>
                  <a:tcPr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After</a:t>
                      </a:r>
                    </a:p>
                  </a:txBody>
                  <a:tcPr>
                    <a:solidFill>
                      <a:srgbClr val="00568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No ErrorBoundary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Blank screen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Recovery UI + retry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WS storm on 429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3s retry forever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Exponential 3s-60s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Rate-limit leak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Never decremented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release() on close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Title &gt;255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Silently reverts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maxLength + counter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Save ROLLBACK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.catch(() =&gt; {})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Retry 3x + toast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ACC"/>
                </a:solidFill>
              </a:defRPr>
            </a:pPr>
            <a:r>
              <a:t>Cat 7: Accessibility — MET (13/13)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3716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6858000"/>
              </a:tblGrid>
              <a:tr h="58782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Fix</a:t>
                      </a:r>
                    </a:p>
                  </a:txBody>
                  <a:tcPr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Page</a:t>
                      </a:r>
                    </a:p>
                  </a:txBody>
                  <a:tcPr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What Changed</a:t>
                      </a:r>
                    </a:p>
                  </a:txBody>
                  <a:tcPr>
                    <a:solidFill>
                      <a:srgbClr val="00568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aria-expanded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/documents/:id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Removed invalid attr from textbox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Contrast (4 fixes)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Multiple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~1.6:1 to 4.5:1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4 aria-labels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/documents/:id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Search, emoji, backlog, chips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TabBar keyboard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/my-week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Arrow/Home/End + roving tabindex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20 decorative SVGs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/projects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aria-hidden on icons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Focus ring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/projects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focus-visible on selectable rows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ACC"/>
                </a:solidFill>
              </a:defRPr>
            </a:pPr>
            <a:r>
              <a:t>Notable: WCAG Conflict &amp; Reverted Fixes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WCAG 1.4.13 vs 2.5.8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  <a:r>
              <a:t>1.4.13: Hover controls must show on focus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  <a:r>
              <a:t>2.5.8: Focusable elements must be 24x24px</a:t>
            </a:r>
          </a:p>
          <a:p>
            <a:pPr>
              <a:spcBef>
                <a:spcPts val="600"/>
              </a:spcBef>
              <a:defRPr sz="1400" b="0">
                <a:solidFill>
                  <a:srgbClr val="F44E4E"/>
                </a:solidFill>
              </a:defRPr>
            </a:pPr>
            <a:r>
              <a:t>Tree items: 6px tall, buttons: 16-18px</a:t>
            </a:r>
          </a:p>
          <a:p>
            <a:pPr>
              <a:spcBef>
                <a:spcPts val="600"/>
              </a:spcBef>
              <a:defRPr sz="1400" b="0">
                <a:solidFill>
                  <a:srgbClr val="4EC9B0"/>
                </a:solidFill>
              </a:defRPr>
            </a:pPr>
            <a:r>
              <a:t>Fix: Increase sizes first, then add tabIndex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118872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6858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Fix</a:t>
                      </a:r>
                    </a:p>
                  </a:txBody>
                  <a:tcPr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Reverted Because</a:t>
                      </a:r>
                    </a:p>
                  </a:txBody>
                  <a:tcPr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Lesson</a:t>
                      </a:r>
                    </a:p>
                  </a:txBody>
                  <a:tcPr>
                    <a:solidFill>
                      <a:srgbClr val="00568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Backlinks .catch()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Mention not deleted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Exposes real bugs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API polling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Yjs truncation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Reveals app bugs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tabIndex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Axe target-size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WCAG can conflict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ACC"/>
                </a:solidFill>
              </a:defRPr>
            </a:pPr>
            <a:r>
              <a:t>Remaining Known Issues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</a:defRPr>
            </a:pPr>
            <a:r>
              <a:t>4 hard failures + 4 flaky — all pre-existing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554480"/>
          <a:ext cx="9601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4114800"/>
                <a:gridCol w="182880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Root Cause</a:t>
                      </a:r>
                    </a:p>
                  </a:txBody>
                  <a:tcPr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0568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a11y:407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Accessibility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WCAG conflict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Documented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syntax:154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Code Blocks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Yjs truncation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App bug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data:356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Mentions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Yjs persistence race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Pre-existing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drag:310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Drag Handle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Element timing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Pre-existing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session:205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Auth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Redirect race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Flaky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session:629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Auth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Fake clock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Flaky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data:256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Images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File chooser timing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Flaky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emoji:31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Emoji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createNewDocument timeout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Flaky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ACC"/>
                </a:solidFill>
              </a:defRPr>
            </a:pPr>
            <a:r>
              <a:t>Commit Discipline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Structured Format</a:t>
            </a:r>
          </a:p>
          <a:p>
            <a:pPr>
              <a:spcBef>
                <a:spcPts val="600"/>
              </a:spcBef>
              <a:defRPr sz="1600" b="0">
                <a:solidFill>
                  <a:srgbClr val="4EC9B0"/>
                </a:solidFill>
              </a:defRPr>
            </a:pPr>
            <a:r>
              <a:t>fix(catN): short summary</a:t>
            </a:r>
          </a:p>
          <a:p>
            <a:pPr>
              <a:spcBef>
                <a:spcPts val="600"/>
              </a:spcBef>
              <a:defRPr sz="1400" b="0">
                <a:solidFill>
                  <a:srgbClr val="999999"/>
                </a:solidFill>
              </a:defRPr>
            </a:pPr>
            <a:r>
              <a:t>Problem: root cause</a:t>
            </a:r>
          </a:p>
          <a:p>
            <a:pPr>
              <a:spcBef>
                <a:spcPts val="600"/>
              </a:spcBef>
              <a:defRPr sz="1400" b="0">
                <a:solidFill>
                  <a:srgbClr val="999999"/>
                </a:solidFill>
              </a:defRPr>
            </a:pPr>
            <a:r>
              <a:t>Fix: what changed and why</a:t>
            </a:r>
          </a:p>
          <a:p>
            <a:pPr>
              <a:spcBef>
                <a:spcPts val="600"/>
              </a:spcBef>
              <a:defRPr sz="1400" b="0">
                <a:solidFill>
                  <a:srgbClr val="999999"/>
                </a:solidFill>
              </a:defRPr>
            </a:pPr>
            <a:r>
              <a:t>Tradeoffs: what was given up</a:t>
            </a:r>
          </a:p>
          <a:p>
            <a:pPr>
              <a:spcBef>
                <a:spcPts val="600"/>
              </a:spcBef>
              <a:defRPr sz="1400" b="0">
                <a:solidFill>
                  <a:srgbClr val="999999"/>
                </a:solidFill>
              </a:defRPr>
            </a:pPr>
            <a:r>
              <a:t>Measured improvement: numbers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7 branches, --no-ff merges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1188720"/>
          <a:ext cx="5029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</a:tblGrid>
              <a:tr h="51435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Branch</a:t>
                      </a:r>
                    </a:p>
                  </a:txBody>
                  <a:tcPr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Commits</a:t>
                      </a:r>
                    </a:p>
                  </a:txBody>
                  <a:tcPr>
                    <a:solidFill>
                      <a:srgbClr val="00568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cat1-type-safety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cat2-bundle-size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cat3-api-response-time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cat4-db-query-efficiency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cat5-test-coverage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40+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cat6-runtime-error-handling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cat7-accessibility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ACC"/>
                </a:solidFill>
              </a:defRPr>
            </a:pPr>
            <a:r>
              <a:t>Future Work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6858000"/>
              </a:tblGrid>
              <a:tr h="58782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Item</a:t>
                      </a:r>
                    </a:p>
                  </a:txBody>
                  <a:tcPr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Cat</a:t>
                      </a:r>
                    </a:p>
                  </a:txBody>
                  <a:tcPr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568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Yjs persistence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5/6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Fix character truncation in DB serialization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WCAG target sizes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24px minimums, then add focus controls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Multi-user tests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2 users editing same document E2E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CAIA/OAuth tests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Government login — zero coverage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Code block rule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Backtick rule for 2nd block</a:t>
                      </a:r>
                    </a:p>
                  </a:txBody>
                  <a:tcPr>
                    <a:solidFill>
                      <a:srgbClr val="121220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API coverage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33% to 60%+ branch coverage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7ACC"/>
                </a:solidFill>
              </a:defRPr>
            </a:pPr>
            <a:r>
              <a:t>ShipShape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EC9B0"/>
                </a:solidFill>
              </a:defRPr>
            </a:pPr>
            <a:r>
              <a:t>7 categories. 24 specs. All targets met.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99"/>
                </a:solidFill>
              </a:defRPr>
            </a:pPr>
            <a:r>
              <a:t>docs/final-audit-report.md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99"/>
                </a:solidFill>
              </a:defRPr>
            </a:pPr>
            <a:r>
              <a:t>github.com/fsyeddev-a11y/ShipShape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