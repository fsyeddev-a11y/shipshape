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iLN4gUsAyoh5gHiK2/2hJX1WQc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81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48640" y="1097280"/>
            <a:ext cx="9144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SHIPSHAPE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48640" y="219456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AUDIT REPORT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548640" y="3200400"/>
            <a:ext cx="11064240" cy="18288"/>
          </a:xfrm>
          <a:prstGeom prst="rect">
            <a:avLst/>
          </a:prstGeom>
          <a:solidFill>
            <a:srgbClr val="00C2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48640" y="33375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US Department of the Treasury  ·  github.com/US-Department-of-the-Treasury/ship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48640" y="3749039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7-Category Baseline Audit  ·  TypeScript Monorepo  ·  React + Express + PostgreSQL + Yjs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548640" y="4572000"/>
            <a:ext cx="1508760" cy="347472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594360" y="459943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 Safety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2212848" y="4572000"/>
            <a:ext cx="1508760" cy="347472"/>
          </a:xfrm>
          <a:prstGeom prst="rect">
            <a:avLst/>
          </a:prstGeom>
          <a:solidFill>
            <a:srgbClr val="1A4A7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258568" y="459943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Bundle Size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3877056" y="4572000"/>
            <a:ext cx="1508760" cy="347472"/>
          </a:xfrm>
          <a:prstGeom prst="rect">
            <a:avLst/>
          </a:prstGeom>
          <a:solidFill>
            <a:srgbClr val="0A4A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922776" y="459943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Response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5541264" y="4572000"/>
            <a:ext cx="1508760" cy="347472"/>
          </a:xfrm>
          <a:prstGeom prst="rect">
            <a:avLst/>
          </a:prstGeom>
          <a:solidFill>
            <a:srgbClr val="4A2A6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5586983" y="459943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 Queries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7205472" y="4572000"/>
            <a:ext cx="1508760" cy="347472"/>
          </a:xfrm>
          <a:prstGeom prst="rect">
            <a:avLst/>
          </a:prstGeom>
          <a:solidFill>
            <a:srgbClr val="6A3A1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7251192" y="459943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Coverage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8869680" y="4572000"/>
            <a:ext cx="1508760" cy="347472"/>
          </a:xfrm>
          <a:prstGeom prst="rect">
            <a:avLst/>
          </a:prstGeom>
          <a:solidFill>
            <a:srgbClr val="6A101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915400" y="459943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Error Handling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10533888" y="4572000"/>
            <a:ext cx="1508760" cy="347472"/>
          </a:xfrm>
          <a:prstGeom prst="rect">
            <a:avLst/>
          </a:prstGeom>
          <a:solidFill>
            <a:srgbClr val="1A3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0579608" y="459943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Accessibility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Audit Phase Complete  —  Phase 2 Improvements In Progress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0" y="0"/>
            <a:ext cx="12189000" cy="685800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/>
          </a:p>
        </p:txBody>
      </p:sp>
      <p:grpSp>
        <p:nvGrpSpPr>
          <p:cNvPr id="112" name="Google Shape;112;p2"/>
          <p:cNvGrpSpPr/>
          <p:nvPr/>
        </p:nvGrpSpPr>
        <p:grpSpPr>
          <a:xfrm>
            <a:off x="470935" y="853092"/>
            <a:ext cx="2194500" cy="1005900"/>
            <a:chOff x="365760" y="868680"/>
            <a:chExt cx="2194500" cy="1005900"/>
          </a:xfrm>
        </p:grpSpPr>
        <p:sp>
          <p:nvSpPr>
            <p:cNvPr id="113" name="Google Shape;113;p2"/>
            <p:cNvSpPr/>
            <p:nvPr/>
          </p:nvSpPr>
          <p:spPr>
            <a:xfrm>
              <a:off x="365760" y="868680"/>
              <a:ext cx="2194500" cy="1005900"/>
            </a:xfrm>
            <a:prstGeom prst="rect">
              <a:avLst/>
            </a:prstGeom>
            <a:solidFill>
              <a:srgbClr val="0F1E38"/>
            </a:solidFill>
            <a:ln cap="flat" cmpd="sng" w="9525">
              <a:solidFill>
                <a:srgbClr val="007A8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457200" y="960120"/>
              <a:ext cx="20118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0" u="none" cap="none" strike="noStrike">
                  <a:solidFill>
                    <a:srgbClr val="FFB800"/>
                  </a:solidFill>
                  <a:latin typeface="Calibri"/>
                  <a:ea typeface="Calibri"/>
                  <a:cs typeface="Calibri"/>
                  <a:sym typeface="Calibri"/>
                </a:rPr>
                <a:t>1,417</a:t>
              </a:r>
              <a:endParaRPr/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457200" y="1527048"/>
              <a:ext cx="20118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5A6E90"/>
                  </a:solidFill>
                  <a:latin typeface="Calibri"/>
                  <a:ea typeface="Calibri"/>
                  <a:cs typeface="Calibri"/>
                  <a:sym typeface="Calibri"/>
                </a:rPr>
                <a:t>Type </a:t>
              </a:r>
              <a:r>
                <a:rPr b="0" i="0" lang="en-US" sz="1000" u="none" cap="none" strike="noStrike">
                  <a:solidFill>
                    <a:srgbClr val="5A6E90"/>
                  </a:solidFill>
                  <a:latin typeface="Calibri"/>
                  <a:ea typeface="Calibri"/>
                  <a:cs typeface="Calibri"/>
                  <a:sym typeface="Calibri"/>
                </a:rPr>
                <a:t>Assertions</a:t>
              </a:r>
              <a:endParaRPr/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5248668" y="846242"/>
            <a:ext cx="2194500" cy="1019618"/>
            <a:chOff x="2029968" y="868680"/>
            <a:chExt cx="2194500" cy="1019618"/>
          </a:xfrm>
        </p:grpSpPr>
        <p:sp>
          <p:nvSpPr>
            <p:cNvPr id="117" name="Google Shape;117;p2"/>
            <p:cNvSpPr/>
            <p:nvPr/>
          </p:nvSpPr>
          <p:spPr>
            <a:xfrm>
              <a:off x="2029968" y="868680"/>
              <a:ext cx="2194500" cy="1005900"/>
            </a:xfrm>
            <a:prstGeom prst="rect">
              <a:avLst/>
            </a:prstGeom>
            <a:solidFill>
              <a:srgbClr val="0F1E38"/>
            </a:solidFill>
            <a:ln cap="flat" cmpd="sng" w="9525">
              <a:solidFill>
                <a:srgbClr val="007A8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2121408" y="960120"/>
              <a:ext cx="20118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0" u="none" cap="none" strike="noStrike">
                  <a:solidFill>
                    <a:srgbClr val="FF4D4D"/>
                  </a:solidFill>
                  <a:latin typeface="Calibri"/>
                  <a:ea typeface="Calibri"/>
                  <a:cs typeface="Calibri"/>
                  <a:sym typeface="Calibri"/>
                </a:rPr>
                <a:t>2,073 KB</a:t>
              </a:r>
              <a:endParaRPr/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2121408" y="1488098"/>
              <a:ext cx="2011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5A6E90"/>
                  </a:solidFill>
                  <a:latin typeface="Calibri"/>
                  <a:ea typeface="Calibri"/>
                  <a:cs typeface="Calibri"/>
                  <a:sym typeface="Calibri"/>
                </a:rPr>
                <a:t>Main JS Chunk</a:t>
              </a:r>
              <a:endParaRPr b="0" i="0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A6E90"/>
                  </a:solidFill>
                  <a:latin typeface="Calibri"/>
                  <a:ea typeface="Calibri"/>
                  <a:cs typeface="Calibri"/>
                  <a:sym typeface="Calibri"/>
                </a:rPr>
                <a:t>index.js</a:t>
              </a:r>
              <a:endParaRPr sz="1000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9523514" y="853105"/>
            <a:ext cx="2194500" cy="1005900"/>
            <a:chOff x="3694176" y="868680"/>
            <a:chExt cx="2194500" cy="1005900"/>
          </a:xfrm>
        </p:grpSpPr>
        <p:sp>
          <p:nvSpPr>
            <p:cNvPr id="121" name="Google Shape;121;p2"/>
            <p:cNvSpPr/>
            <p:nvPr/>
          </p:nvSpPr>
          <p:spPr>
            <a:xfrm>
              <a:off x="3694176" y="868680"/>
              <a:ext cx="2194500" cy="1005900"/>
            </a:xfrm>
            <a:prstGeom prst="rect">
              <a:avLst/>
            </a:prstGeom>
            <a:solidFill>
              <a:srgbClr val="0F1E38"/>
            </a:solidFill>
            <a:ln cap="flat" cmpd="sng" w="9525">
              <a:solidFill>
                <a:srgbClr val="007A8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3785615" y="960120"/>
              <a:ext cx="20118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0" u="none" cap="none" strike="noStrike">
                  <a:solidFill>
                    <a:srgbClr val="FFB800"/>
                  </a:solidFill>
                  <a:latin typeface="Calibri"/>
                  <a:ea typeface="Calibri"/>
                  <a:cs typeface="Calibri"/>
                  <a:sym typeface="Calibri"/>
                </a:rPr>
                <a:t>203ms</a:t>
              </a: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3785615" y="1527048"/>
              <a:ext cx="20118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A6E90"/>
                  </a:solidFill>
                  <a:latin typeface="Calibri"/>
                  <a:ea typeface="Calibri"/>
                  <a:cs typeface="Calibri"/>
                  <a:sym typeface="Calibri"/>
                </a:rPr>
                <a:t>GET /api/i</a:t>
              </a:r>
              <a:r>
                <a:rPr b="0" i="0" lang="en-US" sz="1000" u="none" cap="none" strike="noStrike">
                  <a:solidFill>
                    <a:srgbClr val="5A6E90"/>
                  </a:solidFill>
                  <a:latin typeface="Calibri"/>
                  <a:ea typeface="Calibri"/>
                  <a:cs typeface="Calibri"/>
                  <a:sym typeface="Calibri"/>
                </a:rPr>
                <a:t>ssues P99</a:t>
              </a: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470917" y="2238055"/>
            <a:ext cx="2194500" cy="1005900"/>
            <a:chOff x="6627217" y="2186405"/>
            <a:chExt cx="2194500" cy="1005900"/>
          </a:xfrm>
        </p:grpSpPr>
        <p:sp>
          <p:nvSpPr>
            <p:cNvPr id="125" name="Google Shape;125;p2"/>
            <p:cNvSpPr/>
            <p:nvPr/>
          </p:nvSpPr>
          <p:spPr>
            <a:xfrm>
              <a:off x="6627217" y="2186405"/>
              <a:ext cx="2194500" cy="1005900"/>
            </a:xfrm>
            <a:prstGeom prst="rect">
              <a:avLst/>
            </a:prstGeom>
            <a:solidFill>
              <a:srgbClr val="0F1E38"/>
            </a:solidFill>
            <a:ln cap="flat" cmpd="sng" w="9525">
              <a:solidFill>
                <a:srgbClr val="007A8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6718657" y="2277845"/>
              <a:ext cx="20118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0" u="none" cap="none" strike="noStrike">
                  <a:solidFill>
                    <a:srgbClr val="FF4D4D"/>
                  </a:solidFill>
                  <a:latin typeface="Calibri"/>
                  <a:ea typeface="Calibri"/>
                  <a:cs typeface="Calibri"/>
                  <a:sym typeface="Calibri"/>
                </a:rPr>
                <a:t>34%</a:t>
              </a:r>
              <a:endParaRPr/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6718657" y="2844773"/>
              <a:ext cx="20118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5A6E90"/>
                  </a:solidFill>
                  <a:latin typeface="Calibri"/>
                  <a:ea typeface="Calibri"/>
                  <a:cs typeface="Calibri"/>
                  <a:sym typeface="Calibri"/>
                </a:rPr>
                <a:t>Tests Passing</a:t>
              </a:r>
              <a:endParaRPr/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5248675" y="2182030"/>
            <a:ext cx="2194500" cy="1005900"/>
            <a:chOff x="7772400" y="2186405"/>
            <a:chExt cx="2194500" cy="1005900"/>
          </a:xfrm>
        </p:grpSpPr>
        <p:sp>
          <p:nvSpPr>
            <p:cNvPr id="129" name="Google Shape;129;p2"/>
            <p:cNvSpPr/>
            <p:nvPr/>
          </p:nvSpPr>
          <p:spPr>
            <a:xfrm>
              <a:off x="7772400" y="2186405"/>
              <a:ext cx="2194500" cy="1005900"/>
            </a:xfrm>
            <a:prstGeom prst="rect">
              <a:avLst/>
            </a:prstGeom>
            <a:solidFill>
              <a:srgbClr val="0F1E38"/>
            </a:solidFill>
            <a:ln cap="flat" cmpd="sng" w="9525">
              <a:solidFill>
                <a:srgbClr val="007A8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7863840" y="2277845"/>
              <a:ext cx="20118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0" u="none" cap="none" strike="noStrike">
                  <a:solidFill>
                    <a:srgbClr val="FF4D4D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7863840" y="2844773"/>
              <a:ext cx="20118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5A6E90"/>
                  </a:solidFill>
                  <a:latin typeface="Calibri"/>
                  <a:ea typeface="Calibri"/>
                  <a:cs typeface="Calibri"/>
                  <a:sym typeface="Calibri"/>
                </a:rPr>
                <a:t>Silent Failures</a:t>
              </a:r>
              <a:endParaRPr/>
            </a:p>
          </p:txBody>
        </p:sp>
      </p:grpSp>
      <p:grpSp>
        <p:nvGrpSpPr>
          <p:cNvPr id="132" name="Google Shape;132;p2"/>
          <p:cNvGrpSpPr/>
          <p:nvPr/>
        </p:nvGrpSpPr>
        <p:grpSpPr>
          <a:xfrm>
            <a:off x="9523533" y="2178618"/>
            <a:ext cx="2194500" cy="1005900"/>
            <a:chOff x="9580383" y="1386655"/>
            <a:chExt cx="2194500" cy="1005900"/>
          </a:xfrm>
        </p:grpSpPr>
        <p:sp>
          <p:nvSpPr>
            <p:cNvPr id="133" name="Google Shape;133;p2"/>
            <p:cNvSpPr/>
            <p:nvPr/>
          </p:nvSpPr>
          <p:spPr>
            <a:xfrm>
              <a:off x="9580383" y="1386655"/>
              <a:ext cx="2194500" cy="1005900"/>
            </a:xfrm>
            <a:prstGeom prst="rect">
              <a:avLst/>
            </a:prstGeom>
            <a:solidFill>
              <a:srgbClr val="0F1E38"/>
            </a:solidFill>
            <a:ln cap="flat" cmpd="sng" w="9525">
              <a:solidFill>
                <a:srgbClr val="007A8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9671723" y="1472783"/>
              <a:ext cx="20118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0" u="none" cap="none" strike="noStrike">
                  <a:solidFill>
                    <a:srgbClr val="00E096"/>
                  </a:solidFill>
                  <a:latin typeface="Calibri"/>
                  <a:ea typeface="Calibri"/>
                  <a:cs typeface="Calibri"/>
                  <a:sym typeface="Calibri"/>
                </a:rPr>
                <a:t>91/100</a:t>
              </a:r>
              <a:endParaRPr/>
            </a:p>
          </p:txBody>
        </p:sp>
        <p:sp>
          <p:nvSpPr>
            <p:cNvPr id="135" name="Google Shape;135;p2"/>
            <p:cNvSpPr txBox="1"/>
            <p:nvPr/>
          </p:nvSpPr>
          <p:spPr>
            <a:xfrm>
              <a:off x="9671723" y="2031248"/>
              <a:ext cx="20118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5A6E90"/>
                  </a:solidFill>
                  <a:latin typeface="Calibri"/>
                  <a:ea typeface="Calibri"/>
                  <a:cs typeface="Calibri"/>
                  <a:sym typeface="Calibri"/>
                </a:rPr>
                <a:t>Lowest </a:t>
              </a:r>
              <a:r>
                <a:rPr lang="en-US" sz="1000">
                  <a:solidFill>
                    <a:srgbClr val="5A6E90"/>
                  </a:solidFill>
                  <a:latin typeface="Calibri"/>
                  <a:ea typeface="Calibri"/>
                  <a:cs typeface="Calibri"/>
                  <a:sym typeface="Calibri"/>
                </a:rPr>
                <a:t>Lighthouse</a:t>
              </a:r>
              <a:r>
                <a:rPr b="0" i="0" lang="en-US" sz="1000" u="none" cap="none" strike="noStrike">
                  <a:solidFill>
                    <a:srgbClr val="5A6E90"/>
                  </a:solidFill>
                  <a:latin typeface="Calibri"/>
                  <a:ea typeface="Calibri"/>
                  <a:cs typeface="Calibri"/>
                  <a:sym typeface="Calibri"/>
                </a:rPr>
                <a:t> Score</a:t>
              </a:r>
              <a:endParaRPr/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562353" y="3504125"/>
            <a:ext cx="11064300" cy="18300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470913" y="3622997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CRITICAL FINDINGS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6231633" y="3622997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IMPROVEMENT TARGETS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470913" y="4025333"/>
            <a:ext cx="22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699513" y="4025333"/>
            <a:ext cx="525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95% of JS in one monolithic 2MB chunk — no route-level code splitting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470913" y="4427669"/>
            <a:ext cx="22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699513" y="4427669"/>
            <a:ext cx="525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2/3 of conditional logic never exercised by tests (33% branch coverage)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470913" y="4830004"/>
            <a:ext cx="22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699513" y="4830004"/>
            <a:ext cx="525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Only 34% of tests can execute — E2E + web suites broken by ESM/CJS conflict</a:t>
            </a:r>
            <a:endParaRPr/>
          </a:p>
        </p:txBody>
      </p:sp>
      <p:sp>
        <p:nvSpPr>
          <p:cNvPr id="145" name="Google Shape;145;p2"/>
          <p:cNvSpPr txBox="1"/>
          <p:nvPr/>
        </p:nvSpPr>
        <p:spPr>
          <a:xfrm>
            <a:off x="470913" y="5232340"/>
            <a:ext cx="22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146" name="Google Shape;146;p2"/>
          <p:cNvSpPr txBox="1"/>
          <p:nvPr/>
        </p:nvSpPr>
        <p:spPr>
          <a:xfrm>
            <a:off x="699513" y="5232340"/>
            <a:ext cx="525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No global error handler in Express — unhandled rejections crash the process</a:t>
            </a:r>
            <a:endParaRPr/>
          </a:p>
        </p:txBody>
      </p:sp>
      <p:sp>
        <p:nvSpPr>
          <p:cNvPr id="147" name="Google Shape;147;p2"/>
          <p:cNvSpPr txBox="1"/>
          <p:nvPr/>
        </p:nvSpPr>
        <p:spPr>
          <a:xfrm>
            <a:off x="470913" y="5634677"/>
            <a:ext cx="22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148" name="Google Shape;148;p2"/>
          <p:cNvSpPr txBox="1"/>
          <p:nvPr/>
        </p:nvSpPr>
        <p:spPr>
          <a:xfrm>
            <a:off x="699513" y="5634677"/>
            <a:ext cx="52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Raw SQL returns untyped any — 1,417 manual type assertions throughout codebase</a:t>
            </a:r>
            <a:endParaRPr/>
          </a:p>
        </p:txBody>
      </p:sp>
      <p:sp>
        <p:nvSpPr>
          <p:cNvPr id="149" name="Google Shape;149;p2"/>
          <p:cNvSpPr txBox="1"/>
          <p:nvPr/>
        </p:nvSpPr>
        <p:spPr>
          <a:xfrm>
            <a:off x="6231633" y="4025333"/>
            <a:ext cx="22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150" name="Google Shape;150;p2"/>
          <p:cNvSpPr txBox="1"/>
          <p:nvPr/>
        </p:nvSpPr>
        <p:spPr>
          <a:xfrm>
            <a:off x="6460233" y="4025333"/>
            <a:ext cx="525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Reduce initial bundle by 20% via lazy-loading emoji-picker + highlight.js</a:t>
            </a:r>
            <a:endParaRPr/>
          </a:p>
        </p:txBody>
      </p:sp>
      <p:sp>
        <p:nvSpPr>
          <p:cNvPr id="151" name="Google Shape;151;p2"/>
          <p:cNvSpPr txBox="1"/>
          <p:nvPr/>
        </p:nvSpPr>
        <p:spPr>
          <a:xfrm>
            <a:off x="6231633" y="4427669"/>
            <a:ext cx="22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152" name="Google Shape;152;p2"/>
          <p:cNvSpPr txBox="1"/>
          <p:nvPr/>
        </p:nvSpPr>
        <p:spPr>
          <a:xfrm>
            <a:off x="6460233" y="4427669"/>
            <a:ext cx="525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Fix ESM/CJS conflict: pin get-port@6.1.2, switch web tests to happy-dom</a:t>
            </a:r>
            <a:endParaRPr/>
          </a:p>
        </p:txBody>
      </p:sp>
      <p:sp>
        <p:nvSpPr>
          <p:cNvPr id="153" name="Google Shape;153;p2"/>
          <p:cNvSpPr txBox="1"/>
          <p:nvPr/>
        </p:nvSpPr>
        <p:spPr>
          <a:xfrm>
            <a:off x="6231633" y="4830004"/>
            <a:ext cx="22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154" name="Google Shape;154;p2"/>
          <p:cNvSpPr txBox="1"/>
          <p:nvPr/>
        </p:nvSpPr>
        <p:spPr>
          <a:xfrm>
            <a:off x="6460233" y="4830004"/>
            <a:ext cx="525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Parallelize dashboard queries with Promise.all() → 20% P95 reduction</a:t>
            </a:r>
            <a:endParaRPr/>
          </a:p>
        </p:txBody>
      </p:sp>
      <p:sp>
        <p:nvSpPr>
          <p:cNvPr id="155" name="Google Shape;155;p2"/>
          <p:cNvSpPr txBox="1"/>
          <p:nvPr/>
        </p:nvSpPr>
        <p:spPr>
          <a:xfrm>
            <a:off x="6231633" y="5232340"/>
            <a:ext cx="22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156" name="Google Shape;156;p2"/>
          <p:cNvSpPr txBox="1"/>
          <p:nvPr/>
        </p:nvSpPr>
        <p:spPr>
          <a:xfrm>
            <a:off x="6460233" y="5232340"/>
            <a:ext cx="525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Add root ErrorBoundary in main.tsx + per-tab boundaries in editor</a:t>
            </a:r>
            <a:endParaRPr/>
          </a:p>
        </p:txBody>
      </p:sp>
      <p:sp>
        <p:nvSpPr>
          <p:cNvPr id="157" name="Google Shape;157;p2"/>
          <p:cNvSpPr txBox="1"/>
          <p:nvPr/>
        </p:nvSpPr>
        <p:spPr>
          <a:xfrm>
            <a:off x="6231633" y="5634677"/>
            <a:ext cx="22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158" name="Google Shape;158;p2"/>
          <p:cNvSpPr txBox="1"/>
          <p:nvPr/>
        </p:nvSpPr>
        <p:spPr>
          <a:xfrm>
            <a:off x="6460233" y="5634677"/>
            <a:ext cx="525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Eliminate 25% of type violations with typed query layer over pg results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CATEGORY 1  —  TYPE SAFETY</a:t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10332720" y="155448"/>
            <a:ext cx="1371600" cy="256032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10378440" y="173736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365760" y="822960"/>
            <a:ext cx="2194560" cy="100584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457200" y="9144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457200" y="14813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any types</a:t>
            </a: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2697479" y="822960"/>
            <a:ext cx="2194560" cy="100584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 txBox="1"/>
          <p:nvPr/>
        </p:nvSpPr>
        <p:spPr>
          <a:xfrm>
            <a:off x="2788920" y="9144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1,417</a:t>
            </a:r>
            <a:endParaRPr/>
          </a:p>
        </p:txBody>
      </p:sp>
      <p:sp>
        <p:nvSpPr>
          <p:cNvPr id="172" name="Google Shape;172;p3"/>
          <p:cNvSpPr txBox="1"/>
          <p:nvPr/>
        </p:nvSpPr>
        <p:spPr>
          <a:xfrm>
            <a:off x="2788920" y="14813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type assertions (as)</a:t>
            </a: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5029200" y="822960"/>
            <a:ext cx="2194560" cy="100584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5120640" y="9144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305</a:t>
            </a:r>
            <a:endParaRPr/>
          </a:p>
        </p:txBody>
      </p:sp>
      <p:sp>
        <p:nvSpPr>
          <p:cNvPr id="175" name="Google Shape;175;p3"/>
          <p:cNvSpPr txBox="1"/>
          <p:nvPr/>
        </p:nvSpPr>
        <p:spPr>
          <a:xfrm>
            <a:off x="5120640" y="14813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non-null assertions (!)</a:t>
            </a: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7360919" y="822960"/>
            <a:ext cx="2194560" cy="100584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7452359" y="9144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8" name="Google Shape;178;p3"/>
          <p:cNvSpPr txBox="1"/>
          <p:nvPr/>
        </p:nvSpPr>
        <p:spPr>
          <a:xfrm>
            <a:off x="7452359" y="14813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@ts-ignore</a:t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9692640" y="822960"/>
            <a:ext cx="2194560" cy="100584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9784080" y="9144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1" name="Google Shape;181;p3"/>
          <p:cNvSpPr txBox="1"/>
          <p:nvPr/>
        </p:nvSpPr>
        <p:spPr>
          <a:xfrm>
            <a:off x="9784080" y="14813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strict mode errors</a:t>
            </a:r>
            <a:endParaRPr/>
          </a:p>
        </p:txBody>
      </p:sp>
      <p:sp>
        <p:nvSpPr>
          <p:cNvPr id="182" name="Google Shape;182;p3"/>
          <p:cNvSpPr/>
          <p:nvPr/>
        </p:nvSpPr>
        <p:spPr>
          <a:xfrm>
            <a:off x="548640" y="2011680"/>
            <a:ext cx="11064240" cy="18288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457200" y="212140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VIOLATION BREAKDOWN BY PACKAGE</a:t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457200" y="2487168"/>
            <a:ext cx="3154680" cy="329184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548640" y="255117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Violation</a:t>
            </a: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3657600" y="2487168"/>
            <a:ext cx="1325880" cy="329184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3749039" y="255117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api/</a:t>
            </a:r>
            <a:endParaRPr/>
          </a:p>
        </p:txBody>
      </p:sp>
      <p:sp>
        <p:nvSpPr>
          <p:cNvPr id="188" name="Google Shape;188;p3"/>
          <p:cNvSpPr/>
          <p:nvPr/>
        </p:nvSpPr>
        <p:spPr>
          <a:xfrm>
            <a:off x="5029200" y="2487168"/>
            <a:ext cx="1325880" cy="329184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 txBox="1"/>
          <p:nvPr/>
        </p:nvSpPr>
        <p:spPr>
          <a:xfrm>
            <a:off x="5120640" y="255117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web/</a:t>
            </a: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6400800" y="2487168"/>
            <a:ext cx="1325880" cy="329184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"/>
          <p:cNvSpPr txBox="1"/>
          <p:nvPr/>
        </p:nvSpPr>
        <p:spPr>
          <a:xfrm>
            <a:off x="6492240" y="255117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shared/</a:t>
            </a:r>
            <a:endParaRPr/>
          </a:p>
        </p:txBody>
      </p:sp>
      <p:sp>
        <p:nvSpPr>
          <p:cNvPr id="192" name="Google Shape;192;p3"/>
          <p:cNvSpPr/>
          <p:nvPr/>
        </p:nvSpPr>
        <p:spPr>
          <a:xfrm>
            <a:off x="7772400" y="2487168"/>
            <a:ext cx="1051560" cy="329184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"/>
          <p:cNvSpPr txBox="1"/>
          <p:nvPr/>
        </p:nvSpPr>
        <p:spPr>
          <a:xfrm>
            <a:off x="7863840" y="255117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/>
          </a:p>
        </p:txBody>
      </p:sp>
      <p:sp>
        <p:nvSpPr>
          <p:cNvPr id="194" name="Google Shape;194;p3"/>
          <p:cNvSpPr/>
          <p:nvPr/>
        </p:nvSpPr>
        <p:spPr>
          <a:xfrm>
            <a:off x="457200" y="2834640"/>
            <a:ext cx="3154680" cy="329184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"/>
          <p:cNvSpPr txBox="1"/>
          <p:nvPr/>
        </p:nvSpPr>
        <p:spPr>
          <a:xfrm>
            <a:off x="548640" y="289864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any types</a:t>
            </a:r>
            <a:endParaRPr/>
          </a:p>
        </p:txBody>
      </p:sp>
      <p:sp>
        <p:nvSpPr>
          <p:cNvPr id="196" name="Google Shape;196;p3"/>
          <p:cNvSpPr/>
          <p:nvPr/>
        </p:nvSpPr>
        <p:spPr>
          <a:xfrm>
            <a:off x="3657600" y="2834640"/>
            <a:ext cx="1325880" cy="329184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"/>
          <p:cNvSpPr txBox="1"/>
          <p:nvPr/>
        </p:nvSpPr>
        <p:spPr>
          <a:xfrm>
            <a:off x="3749039" y="289864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75</a:t>
            </a:r>
            <a:endParaRPr/>
          </a:p>
        </p:txBody>
      </p:sp>
      <p:sp>
        <p:nvSpPr>
          <p:cNvPr id="198" name="Google Shape;198;p3"/>
          <p:cNvSpPr/>
          <p:nvPr/>
        </p:nvSpPr>
        <p:spPr>
          <a:xfrm>
            <a:off x="5029200" y="2834640"/>
            <a:ext cx="1325880" cy="329184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"/>
          <p:cNvSpPr txBox="1"/>
          <p:nvPr/>
        </p:nvSpPr>
        <p:spPr>
          <a:xfrm>
            <a:off x="5120640" y="289864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200" name="Google Shape;200;p3"/>
          <p:cNvSpPr/>
          <p:nvPr/>
        </p:nvSpPr>
        <p:spPr>
          <a:xfrm>
            <a:off x="6400800" y="2834640"/>
            <a:ext cx="1325880" cy="329184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 txBox="1"/>
          <p:nvPr/>
        </p:nvSpPr>
        <p:spPr>
          <a:xfrm>
            <a:off x="6492240" y="289864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7772400" y="2834640"/>
            <a:ext cx="1051560" cy="329184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"/>
          <p:cNvSpPr txBox="1"/>
          <p:nvPr/>
        </p:nvSpPr>
        <p:spPr>
          <a:xfrm>
            <a:off x="7863840" y="289864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/>
          </a:p>
        </p:txBody>
      </p:sp>
      <p:sp>
        <p:nvSpPr>
          <p:cNvPr id="204" name="Google Shape;204;p3"/>
          <p:cNvSpPr/>
          <p:nvPr/>
        </p:nvSpPr>
        <p:spPr>
          <a:xfrm>
            <a:off x="457200" y="3182112"/>
            <a:ext cx="3154680" cy="329184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"/>
          <p:cNvSpPr txBox="1"/>
          <p:nvPr/>
        </p:nvSpPr>
        <p:spPr>
          <a:xfrm>
            <a:off x="548640" y="324612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type assertions (as)</a:t>
            </a:r>
            <a:endParaRPr/>
          </a:p>
        </p:txBody>
      </p:sp>
      <p:sp>
        <p:nvSpPr>
          <p:cNvPr id="206" name="Google Shape;206;p3"/>
          <p:cNvSpPr/>
          <p:nvPr/>
        </p:nvSpPr>
        <p:spPr>
          <a:xfrm>
            <a:off x="3657600" y="3182112"/>
            <a:ext cx="1325880" cy="329184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"/>
          <p:cNvSpPr txBox="1"/>
          <p:nvPr/>
        </p:nvSpPr>
        <p:spPr>
          <a:xfrm>
            <a:off x="3749039" y="324612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964</a:t>
            </a:r>
            <a:endParaRPr/>
          </a:p>
        </p:txBody>
      </p:sp>
      <p:sp>
        <p:nvSpPr>
          <p:cNvPr id="208" name="Google Shape;208;p3"/>
          <p:cNvSpPr/>
          <p:nvPr/>
        </p:nvSpPr>
        <p:spPr>
          <a:xfrm>
            <a:off x="5029200" y="3182112"/>
            <a:ext cx="1325880" cy="329184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"/>
          <p:cNvSpPr txBox="1"/>
          <p:nvPr/>
        </p:nvSpPr>
        <p:spPr>
          <a:xfrm>
            <a:off x="5120640" y="324612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453</a:t>
            </a:r>
            <a:endParaRPr/>
          </a:p>
        </p:txBody>
      </p:sp>
      <p:sp>
        <p:nvSpPr>
          <p:cNvPr id="210" name="Google Shape;210;p3"/>
          <p:cNvSpPr/>
          <p:nvPr/>
        </p:nvSpPr>
        <p:spPr>
          <a:xfrm>
            <a:off x="6400800" y="3182112"/>
            <a:ext cx="1325880" cy="329184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"/>
          <p:cNvSpPr txBox="1"/>
          <p:nvPr/>
        </p:nvSpPr>
        <p:spPr>
          <a:xfrm>
            <a:off x="6492240" y="324612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12" name="Google Shape;212;p3"/>
          <p:cNvSpPr/>
          <p:nvPr/>
        </p:nvSpPr>
        <p:spPr>
          <a:xfrm>
            <a:off x="7772400" y="3182112"/>
            <a:ext cx="1051560" cy="329184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"/>
          <p:cNvSpPr txBox="1"/>
          <p:nvPr/>
        </p:nvSpPr>
        <p:spPr>
          <a:xfrm>
            <a:off x="7863840" y="32461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1,417</a:t>
            </a:r>
            <a:endParaRPr/>
          </a:p>
        </p:txBody>
      </p:sp>
      <p:sp>
        <p:nvSpPr>
          <p:cNvPr id="214" name="Google Shape;214;p3"/>
          <p:cNvSpPr/>
          <p:nvPr/>
        </p:nvSpPr>
        <p:spPr>
          <a:xfrm>
            <a:off x="457200" y="3529584"/>
            <a:ext cx="3154680" cy="329184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"/>
          <p:cNvSpPr txBox="1"/>
          <p:nvPr/>
        </p:nvSpPr>
        <p:spPr>
          <a:xfrm>
            <a:off x="548640" y="359359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non-null assertions (!)</a:t>
            </a:r>
            <a:endParaRPr/>
          </a:p>
        </p:txBody>
      </p:sp>
      <p:sp>
        <p:nvSpPr>
          <p:cNvPr id="216" name="Google Shape;216;p3"/>
          <p:cNvSpPr/>
          <p:nvPr/>
        </p:nvSpPr>
        <p:spPr>
          <a:xfrm>
            <a:off x="3657600" y="3529584"/>
            <a:ext cx="1325880" cy="329184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"/>
          <p:cNvSpPr txBox="1"/>
          <p:nvPr/>
        </p:nvSpPr>
        <p:spPr>
          <a:xfrm>
            <a:off x="3749039" y="359359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280</a:t>
            </a:r>
            <a:endParaRPr/>
          </a:p>
        </p:txBody>
      </p:sp>
      <p:sp>
        <p:nvSpPr>
          <p:cNvPr id="218" name="Google Shape;218;p3"/>
          <p:cNvSpPr/>
          <p:nvPr/>
        </p:nvSpPr>
        <p:spPr>
          <a:xfrm>
            <a:off x="5029200" y="3529584"/>
            <a:ext cx="1325880" cy="329184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"/>
          <p:cNvSpPr txBox="1"/>
          <p:nvPr/>
        </p:nvSpPr>
        <p:spPr>
          <a:xfrm>
            <a:off x="5120640" y="359359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220" name="Google Shape;220;p3"/>
          <p:cNvSpPr/>
          <p:nvPr/>
        </p:nvSpPr>
        <p:spPr>
          <a:xfrm>
            <a:off x="6400800" y="3529584"/>
            <a:ext cx="1325880" cy="329184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"/>
          <p:cNvSpPr txBox="1"/>
          <p:nvPr/>
        </p:nvSpPr>
        <p:spPr>
          <a:xfrm>
            <a:off x="6492240" y="359359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2" name="Google Shape;222;p3"/>
          <p:cNvSpPr/>
          <p:nvPr/>
        </p:nvSpPr>
        <p:spPr>
          <a:xfrm>
            <a:off x="7772400" y="3529584"/>
            <a:ext cx="1051560" cy="329184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"/>
          <p:cNvSpPr txBox="1"/>
          <p:nvPr/>
        </p:nvSpPr>
        <p:spPr>
          <a:xfrm>
            <a:off x="7863840" y="359359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305</a:t>
            </a:r>
            <a:endParaRPr/>
          </a:p>
        </p:txBody>
      </p:sp>
      <p:sp>
        <p:nvSpPr>
          <p:cNvPr id="224" name="Google Shape;224;p3"/>
          <p:cNvSpPr/>
          <p:nvPr/>
        </p:nvSpPr>
        <p:spPr>
          <a:xfrm>
            <a:off x="457200" y="3877056"/>
            <a:ext cx="3154680" cy="329184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"/>
          <p:cNvSpPr txBox="1"/>
          <p:nvPr/>
        </p:nvSpPr>
        <p:spPr>
          <a:xfrm>
            <a:off x="548640" y="394106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@ts-ignore / @ts-expect-error</a:t>
            </a:r>
            <a:endParaRPr/>
          </a:p>
        </p:txBody>
      </p:sp>
      <p:sp>
        <p:nvSpPr>
          <p:cNvPr id="226" name="Google Shape;226;p3"/>
          <p:cNvSpPr/>
          <p:nvPr/>
        </p:nvSpPr>
        <p:spPr>
          <a:xfrm>
            <a:off x="3657600" y="3877056"/>
            <a:ext cx="1325880" cy="329184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"/>
          <p:cNvSpPr txBox="1"/>
          <p:nvPr/>
        </p:nvSpPr>
        <p:spPr>
          <a:xfrm>
            <a:off x="3749039" y="394106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8" name="Google Shape;228;p3"/>
          <p:cNvSpPr/>
          <p:nvPr/>
        </p:nvSpPr>
        <p:spPr>
          <a:xfrm>
            <a:off x="5029200" y="3877056"/>
            <a:ext cx="1325880" cy="329184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"/>
          <p:cNvSpPr txBox="1"/>
          <p:nvPr/>
        </p:nvSpPr>
        <p:spPr>
          <a:xfrm>
            <a:off x="5120640" y="394106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0" name="Google Shape;230;p3"/>
          <p:cNvSpPr/>
          <p:nvPr/>
        </p:nvSpPr>
        <p:spPr>
          <a:xfrm>
            <a:off x="6400800" y="3877056"/>
            <a:ext cx="1325880" cy="329184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"/>
          <p:cNvSpPr txBox="1"/>
          <p:nvPr/>
        </p:nvSpPr>
        <p:spPr>
          <a:xfrm>
            <a:off x="6492240" y="394106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32" name="Google Shape;232;p3"/>
          <p:cNvSpPr/>
          <p:nvPr/>
        </p:nvSpPr>
        <p:spPr>
          <a:xfrm>
            <a:off x="7772400" y="3877056"/>
            <a:ext cx="1051560" cy="329184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"/>
          <p:cNvSpPr txBox="1"/>
          <p:nvPr/>
        </p:nvSpPr>
        <p:spPr>
          <a:xfrm>
            <a:off x="7863840" y="394106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" name="Google Shape;234;p3"/>
          <p:cNvSpPr/>
          <p:nvPr/>
        </p:nvSpPr>
        <p:spPr>
          <a:xfrm>
            <a:off x="457200" y="4434840"/>
            <a:ext cx="11247120" cy="1005840"/>
          </a:xfrm>
          <a:prstGeom prst="rect">
            <a:avLst/>
          </a:prstGeom>
          <a:solidFill>
            <a:srgbClr val="2A1A0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"/>
          <p:cNvSpPr txBox="1"/>
          <p:nvPr/>
        </p:nvSpPr>
        <p:spPr>
          <a:xfrm>
            <a:off x="640080" y="449884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ROOT CAUSE</a:t>
            </a:r>
            <a:endParaRPr/>
          </a:p>
        </p:txBody>
      </p:sp>
      <p:sp>
        <p:nvSpPr>
          <p:cNvPr id="236" name="Google Shape;236;p3"/>
          <p:cNvSpPr txBox="1"/>
          <p:nvPr/>
        </p:nvSpPr>
        <p:spPr>
          <a:xfrm>
            <a:off x="640080" y="4736592"/>
            <a:ext cx="10972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Raw SQL with postgres returns untyped any rows. Every field access requires a manual cast.</a:t>
            </a:r>
            <a:b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A thin typed query layer (even just generic row-mapping functions — no ORM needed) would eliminate the majority of 1,417 'as' violations and make column renames compile-time errors instead of runtime crashes.</a:t>
            </a:r>
            <a:endParaRPr/>
          </a:p>
        </p:txBody>
      </p:sp>
      <p:sp>
        <p:nvSpPr>
          <p:cNvPr id="237" name="Google Shape;237;p3"/>
          <p:cNvSpPr txBox="1"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TARGET: Eliminate 25% of violations — every fix must preserve test suite passage</a:t>
            </a:r>
            <a:endParaRPr/>
          </a:p>
        </p:txBody>
      </p:sp>
      <p:sp>
        <p:nvSpPr>
          <p:cNvPr id="238" name="Google Shape;238;p3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Top 5 violation-dense files: team.ts (139)  ·  weeks.ts (132)  ·  claude.ts (75)  ·  projects.ts (50)  ·  accountability.test.ts (32)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CATEGORY 2  —  BUNDLE SIZE</a:t>
            </a:r>
            <a:endParaRPr/>
          </a:p>
        </p:txBody>
      </p:sp>
      <p:sp>
        <p:nvSpPr>
          <p:cNvPr id="245" name="Google Shape;245;p4"/>
          <p:cNvSpPr/>
          <p:nvPr/>
        </p:nvSpPr>
        <p:spPr>
          <a:xfrm>
            <a:off x="10332720" y="155448"/>
            <a:ext cx="1371600" cy="256032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"/>
          <p:cNvSpPr txBox="1"/>
          <p:nvPr/>
        </p:nvSpPr>
        <p:spPr>
          <a:xfrm>
            <a:off x="10378440" y="173736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/>
          </a:p>
        </p:txBody>
      </p:sp>
      <p:sp>
        <p:nvSpPr>
          <p:cNvPr id="247" name="Google Shape;247;p4"/>
          <p:cNvSpPr/>
          <p:nvPr/>
        </p:nvSpPr>
        <p:spPr>
          <a:xfrm>
            <a:off x="365760" y="822960"/>
            <a:ext cx="2194560" cy="100584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"/>
          <p:cNvSpPr txBox="1"/>
          <p:nvPr/>
        </p:nvSpPr>
        <p:spPr>
          <a:xfrm>
            <a:off x="457200" y="9144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2,189 KB</a:t>
            </a:r>
            <a:endParaRPr/>
          </a:p>
        </p:txBody>
      </p:sp>
      <p:sp>
        <p:nvSpPr>
          <p:cNvPr id="249" name="Google Shape;249;p4"/>
          <p:cNvSpPr txBox="1"/>
          <p:nvPr/>
        </p:nvSpPr>
        <p:spPr>
          <a:xfrm>
            <a:off x="457200" y="14813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Total Bundle</a:t>
            </a:r>
            <a:endParaRPr/>
          </a:p>
        </p:txBody>
      </p:sp>
      <p:sp>
        <p:nvSpPr>
          <p:cNvPr id="250" name="Google Shape;250;p4"/>
          <p:cNvSpPr/>
          <p:nvPr/>
        </p:nvSpPr>
        <p:spPr>
          <a:xfrm>
            <a:off x="2651760" y="822960"/>
            <a:ext cx="2194560" cy="100584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"/>
          <p:cNvSpPr txBox="1"/>
          <p:nvPr/>
        </p:nvSpPr>
        <p:spPr>
          <a:xfrm>
            <a:off x="2743200" y="9144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2,073 KB</a:t>
            </a:r>
            <a:endParaRPr/>
          </a:p>
        </p:txBody>
      </p:sp>
      <p:sp>
        <p:nvSpPr>
          <p:cNvPr id="252" name="Google Shape;252;p4"/>
          <p:cNvSpPr txBox="1"/>
          <p:nvPr/>
        </p:nvSpPr>
        <p:spPr>
          <a:xfrm>
            <a:off x="2743200" y="14813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Largest Chunk</a:t>
            </a:r>
            <a:endParaRPr/>
          </a:p>
        </p:txBody>
      </p:sp>
      <p:sp>
        <p:nvSpPr>
          <p:cNvPr id="253" name="Google Shape;253;p4"/>
          <p:cNvSpPr/>
          <p:nvPr/>
        </p:nvSpPr>
        <p:spPr>
          <a:xfrm>
            <a:off x="4937760" y="822960"/>
            <a:ext cx="2194560" cy="100584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"/>
          <p:cNvSpPr txBox="1"/>
          <p:nvPr/>
        </p:nvSpPr>
        <p:spPr>
          <a:xfrm>
            <a:off x="5029200" y="9144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261</a:t>
            </a:r>
            <a:endParaRPr/>
          </a:p>
        </p:txBody>
      </p:sp>
      <p:sp>
        <p:nvSpPr>
          <p:cNvPr id="255" name="Google Shape;255;p4"/>
          <p:cNvSpPr txBox="1"/>
          <p:nvPr/>
        </p:nvSpPr>
        <p:spPr>
          <a:xfrm>
            <a:off x="5029200" y="14813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JS Chunks</a:t>
            </a:r>
            <a:endParaRPr/>
          </a:p>
        </p:txBody>
      </p:sp>
      <p:sp>
        <p:nvSpPr>
          <p:cNvPr id="256" name="Google Shape;256;p4"/>
          <p:cNvSpPr/>
          <p:nvPr/>
        </p:nvSpPr>
        <p:spPr>
          <a:xfrm>
            <a:off x="7223760" y="822960"/>
            <a:ext cx="2194560" cy="100584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4"/>
          <p:cNvSpPr txBox="1"/>
          <p:nvPr/>
        </p:nvSpPr>
        <p:spPr>
          <a:xfrm>
            <a:off x="7315200" y="9144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95%</a:t>
            </a:r>
            <a:endParaRPr/>
          </a:p>
        </p:txBody>
      </p:sp>
      <p:sp>
        <p:nvSpPr>
          <p:cNvPr id="258" name="Google Shape;258;p4"/>
          <p:cNvSpPr txBox="1"/>
          <p:nvPr/>
        </p:nvSpPr>
        <p:spPr>
          <a:xfrm>
            <a:off x="7315200" y="14813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JS in One File</a:t>
            </a:r>
            <a:endParaRPr/>
          </a:p>
        </p:txBody>
      </p:sp>
      <p:sp>
        <p:nvSpPr>
          <p:cNvPr id="259" name="Google Shape;259;p4"/>
          <p:cNvSpPr/>
          <p:nvPr/>
        </p:nvSpPr>
        <p:spPr>
          <a:xfrm>
            <a:off x="9509760" y="822960"/>
            <a:ext cx="2194560" cy="100584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"/>
          <p:cNvSpPr txBox="1"/>
          <p:nvPr/>
        </p:nvSpPr>
        <p:spPr>
          <a:xfrm>
            <a:off x="9601200" y="9144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589 KB</a:t>
            </a:r>
            <a:endParaRPr/>
          </a:p>
        </p:txBody>
      </p:sp>
      <p:sp>
        <p:nvSpPr>
          <p:cNvPr id="261" name="Google Shape;261;p4"/>
          <p:cNvSpPr txBox="1"/>
          <p:nvPr/>
        </p:nvSpPr>
        <p:spPr>
          <a:xfrm>
            <a:off x="9601200" y="14813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Gzipped Size</a:t>
            </a:r>
            <a:endParaRPr/>
          </a:p>
        </p:txBody>
      </p:sp>
      <p:sp>
        <p:nvSpPr>
          <p:cNvPr id="262" name="Google Shape;262;p4"/>
          <p:cNvSpPr/>
          <p:nvPr/>
        </p:nvSpPr>
        <p:spPr>
          <a:xfrm>
            <a:off x="548640" y="2011680"/>
            <a:ext cx="11064240" cy="18288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"/>
          <p:cNvSpPr txBox="1"/>
          <p:nvPr/>
        </p:nvSpPr>
        <p:spPr>
          <a:xfrm>
            <a:off x="457200" y="212140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TOP 3 DEPENDENCIES BY SIZE</a:t>
            </a:r>
            <a:endParaRPr/>
          </a:p>
        </p:txBody>
      </p:sp>
      <p:sp>
        <p:nvSpPr>
          <p:cNvPr id="264" name="Google Shape;264;p4"/>
          <p:cNvSpPr/>
          <p:nvPr/>
        </p:nvSpPr>
        <p:spPr>
          <a:xfrm>
            <a:off x="457200" y="2514600"/>
            <a:ext cx="5029200" cy="713232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"/>
          <p:cNvSpPr txBox="1"/>
          <p:nvPr/>
        </p:nvSpPr>
        <p:spPr>
          <a:xfrm>
            <a:off x="594360" y="2502806"/>
            <a:ext cx="914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400 KB</a:t>
            </a:r>
            <a:endParaRPr/>
          </a:p>
        </p:txBody>
      </p:sp>
      <p:sp>
        <p:nvSpPr>
          <p:cNvPr id="266" name="Google Shape;266;p4"/>
          <p:cNvSpPr txBox="1"/>
          <p:nvPr/>
        </p:nvSpPr>
        <p:spPr>
          <a:xfrm>
            <a:off x="1554480" y="2606040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emoji-picker-react</a:t>
            </a:r>
            <a:endParaRPr/>
          </a:p>
        </p:txBody>
      </p:sp>
      <p:sp>
        <p:nvSpPr>
          <p:cNvPr id="267" name="Google Shape;267;p4"/>
          <p:cNvSpPr txBox="1"/>
          <p:nvPr/>
        </p:nvSpPr>
        <p:spPr>
          <a:xfrm>
            <a:off x="1554480" y="2898648"/>
            <a:ext cx="37490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Only needed when emoji picker opened</a:t>
            </a:r>
            <a:endParaRPr/>
          </a:p>
        </p:txBody>
      </p:sp>
      <p:sp>
        <p:nvSpPr>
          <p:cNvPr id="268" name="Google Shape;268;p4"/>
          <p:cNvSpPr/>
          <p:nvPr/>
        </p:nvSpPr>
        <p:spPr>
          <a:xfrm>
            <a:off x="457200" y="3337560"/>
            <a:ext cx="5029200" cy="713232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"/>
          <p:cNvSpPr txBox="1"/>
          <p:nvPr/>
        </p:nvSpPr>
        <p:spPr>
          <a:xfrm>
            <a:off x="594343" y="3331674"/>
            <a:ext cx="914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378 KB</a:t>
            </a:r>
            <a:endParaRPr/>
          </a:p>
        </p:txBody>
      </p:sp>
      <p:sp>
        <p:nvSpPr>
          <p:cNvPr id="270" name="Google Shape;270;p4"/>
          <p:cNvSpPr txBox="1"/>
          <p:nvPr/>
        </p:nvSpPr>
        <p:spPr>
          <a:xfrm>
            <a:off x="1554480" y="3429000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highlight.js</a:t>
            </a:r>
            <a:endParaRPr/>
          </a:p>
        </p:txBody>
      </p:sp>
      <p:sp>
        <p:nvSpPr>
          <p:cNvPr id="271" name="Google Shape;271;p4"/>
          <p:cNvSpPr txBox="1"/>
          <p:nvPr/>
        </p:nvSpPr>
        <p:spPr>
          <a:xfrm>
            <a:off x="1554480" y="3721608"/>
            <a:ext cx="37490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Only needed when viewing code blocks</a:t>
            </a:r>
            <a:endParaRPr/>
          </a:p>
        </p:txBody>
      </p:sp>
      <p:sp>
        <p:nvSpPr>
          <p:cNvPr id="272" name="Google Shape;272;p4"/>
          <p:cNvSpPr/>
          <p:nvPr/>
        </p:nvSpPr>
        <p:spPr>
          <a:xfrm>
            <a:off x="457200" y="4160520"/>
            <a:ext cx="5029200" cy="713232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"/>
          <p:cNvSpPr txBox="1"/>
          <p:nvPr/>
        </p:nvSpPr>
        <p:spPr>
          <a:xfrm>
            <a:off x="594360" y="4160559"/>
            <a:ext cx="914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265 KB</a:t>
            </a:r>
            <a:endParaRPr/>
          </a:p>
        </p:txBody>
      </p:sp>
      <p:sp>
        <p:nvSpPr>
          <p:cNvPr id="274" name="Google Shape;274;p4"/>
          <p:cNvSpPr txBox="1"/>
          <p:nvPr/>
        </p:nvSpPr>
        <p:spPr>
          <a:xfrm>
            <a:off x="1554480" y="4251959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Yjs</a:t>
            </a:r>
            <a:endParaRPr/>
          </a:p>
        </p:txBody>
      </p:sp>
      <p:sp>
        <p:nvSpPr>
          <p:cNvPr id="275" name="Google Shape;275;p4"/>
          <p:cNvSpPr txBox="1"/>
          <p:nvPr/>
        </p:nvSpPr>
        <p:spPr>
          <a:xfrm>
            <a:off x="1554480" y="4544568"/>
            <a:ext cx="37490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Core CRDT — cannot be deferred</a:t>
            </a:r>
            <a:endParaRPr/>
          </a:p>
        </p:txBody>
      </p:sp>
      <p:sp>
        <p:nvSpPr>
          <p:cNvPr id="276" name="Google Shape;276;p4"/>
          <p:cNvSpPr txBox="1"/>
          <p:nvPr/>
        </p:nvSpPr>
        <p:spPr>
          <a:xfrm>
            <a:off x="5943600" y="2121408"/>
            <a:ext cx="5760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CODE SPLITTING BUGS</a:t>
            </a:r>
            <a:endParaRPr/>
          </a:p>
        </p:txBody>
      </p:sp>
      <p:sp>
        <p:nvSpPr>
          <p:cNvPr id="277" name="Google Shape;277;p4"/>
          <p:cNvSpPr txBox="1"/>
          <p:nvPr/>
        </p:nvSpPr>
        <p:spPr>
          <a:xfrm>
            <a:off x="5943600" y="248716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278" name="Google Shape;278;p4"/>
          <p:cNvSpPr txBox="1"/>
          <p:nvPr/>
        </p:nvSpPr>
        <p:spPr>
          <a:xfrm>
            <a:off x="6172200" y="2487168"/>
            <a:ext cx="5532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upload.ts: dynamic import defeated — </a:t>
            </a: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FileAttachment.tsx &amp; I</a:t>
            </a: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mageUpload.tsx </a:t>
            </a: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both </a:t>
            </a: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statically import </a:t>
            </a: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it </a:t>
            </a: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via Editor.tsx, so it's already in main chunk </a:t>
            </a:r>
            <a:endParaRPr/>
          </a:p>
        </p:txBody>
      </p:sp>
      <p:sp>
        <p:nvSpPr>
          <p:cNvPr id="279" name="Google Shape;279;p4"/>
          <p:cNvSpPr txBox="1"/>
          <p:nvPr/>
        </p:nvSpPr>
        <p:spPr>
          <a:xfrm>
            <a:off x="5943600" y="294436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280" name="Google Shape;280;p4"/>
          <p:cNvSpPr txBox="1"/>
          <p:nvPr/>
        </p:nvSpPr>
        <p:spPr>
          <a:xfrm>
            <a:off x="6172200" y="2944368"/>
            <a:ext cx="5532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FileAttachment.tsx: SlashCommands tries to lazy-load </a:t>
            </a: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it </a:t>
            </a: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but Editor.tsx already statically imports it — split never happens </a:t>
            </a:r>
            <a:endParaRPr/>
          </a:p>
        </p:txBody>
      </p:sp>
      <p:sp>
        <p:nvSpPr>
          <p:cNvPr id="281" name="Google Shape;281;p4"/>
          <p:cNvSpPr txBox="1"/>
          <p:nvPr/>
        </p:nvSpPr>
        <p:spPr>
          <a:xfrm>
            <a:off x="5943600" y="340156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282" name="Google Shape;282;p4"/>
          <p:cNvSpPr txBox="1"/>
          <p:nvPr/>
        </p:nvSpPr>
        <p:spPr>
          <a:xfrm>
            <a:off x="6172200" y="3401568"/>
            <a:ext cx="5532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Only tab components use React.lazy()</a:t>
            </a:r>
            <a:r>
              <a:rPr lang="en-US" sz="11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 — zero </a:t>
            </a:r>
            <a:r>
              <a:rPr lang="en-US" sz="11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oute-level or dependency-level splitting</a:t>
            </a:r>
            <a:r>
              <a:rPr lang="en-US" sz="11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. Heavy dependency splitting is not implemented.</a:t>
            </a:r>
            <a:endParaRPr/>
          </a:p>
        </p:txBody>
      </p:sp>
      <p:sp>
        <p:nvSpPr>
          <p:cNvPr id="283" name="Google Shape;283;p4"/>
          <p:cNvSpPr txBox="1"/>
          <p:nvPr/>
        </p:nvSpPr>
        <p:spPr>
          <a:xfrm>
            <a:off x="5943600" y="385876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284" name="Google Shape;284;p4"/>
          <p:cNvSpPr txBox="1"/>
          <p:nvPr/>
        </p:nvSpPr>
        <p:spPr>
          <a:xfrm>
            <a:off x="6172200" y="3858768"/>
            <a:ext cx="5532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~240 tiny icon SVG chunks (&lt;1 KB each) — not a size problem but HTTP/2 request count concern </a:t>
            </a:r>
            <a:endParaRPr/>
          </a:p>
        </p:txBody>
      </p:sp>
      <p:sp>
        <p:nvSpPr>
          <p:cNvPr id="285" name="Google Shape;285;p4"/>
          <p:cNvSpPr/>
          <p:nvPr/>
        </p:nvSpPr>
        <p:spPr>
          <a:xfrm>
            <a:off x="548640" y="5230368"/>
            <a:ext cx="11064240" cy="18288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"/>
          <p:cNvSpPr txBox="1"/>
          <p:nvPr/>
        </p:nvSpPr>
        <p:spPr>
          <a:xfrm>
            <a:off x="457200" y="5334296"/>
            <a:ext cx="5486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TARGET: 15% </a:t>
            </a:r>
            <a:r>
              <a:rPr b="1" lang="en-US" sz="1100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reduction in total production bundle size &amp;</a:t>
            </a:r>
            <a:endParaRPr b="1" sz="1100">
              <a:solidFill>
                <a:srgbClr val="00E0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20% reduction in initial page load bundle</a:t>
            </a:r>
            <a:endParaRPr/>
          </a:p>
        </p:txBody>
      </p:sp>
      <p:sp>
        <p:nvSpPr>
          <p:cNvPr id="287" name="Google Shape;287;p4"/>
          <p:cNvSpPr txBox="1"/>
          <p:nvPr/>
        </p:nvSpPr>
        <p:spPr>
          <a:xfrm>
            <a:off x="457200" y="5850735"/>
            <a:ext cx="22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288" name="Google Shape;288;p4"/>
          <p:cNvSpPr txBox="1"/>
          <p:nvPr/>
        </p:nvSpPr>
        <p:spPr>
          <a:xfrm>
            <a:off x="685800" y="5850735"/>
            <a:ext cx="5532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Lazy-load emoji-picker-react → saves ~400 KB from initial load</a:t>
            </a:r>
            <a:endParaRPr/>
          </a:p>
        </p:txBody>
      </p:sp>
      <p:sp>
        <p:nvSpPr>
          <p:cNvPr id="289" name="Google Shape;289;p4"/>
          <p:cNvSpPr txBox="1"/>
          <p:nvPr/>
        </p:nvSpPr>
        <p:spPr>
          <a:xfrm>
            <a:off x="457200" y="6161631"/>
            <a:ext cx="22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290" name="Google Shape;290;p4"/>
          <p:cNvSpPr txBox="1"/>
          <p:nvPr/>
        </p:nvSpPr>
        <p:spPr>
          <a:xfrm>
            <a:off x="685800" y="6161631"/>
            <a:ext cx="5532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Import only needed highlight.js languages (4 vs 190+) → saves ~300 KB</a:t>
            </a:r>
            <a:endParaRPr/>
          </a:p>
        </p:txBody>
      </p:sp>
      <p:sp>
        <p:nvSpPr>
          <p:cNvPr id="291" name="Google Shape;291;p4"/>
          <p:cNvSpPr txBox="1"/>
          <p:nvPr/>
        </p:nvSpPr>
        <p:spPr>
          <a:xfrm>
            <a:off x="457200" y="6472527"/>
            <a:ext cx="22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292" name="Google Shape;292;p4"/>
          <p:cNvSpPr txBox="1"/>
          <p:nvPr/>
        </p:nvSpPr>
        <p:spPr>
          <a:xfrm>
            <a:off x="685800" y="6472527"/>
            <a:ext cx="5532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Add route-level React.lazy() splitting for heavy page components</a:t>
            </a:r>
            <a:endParaRPr/>
          </a:p>
        </p:txBody>
      </p:sp>
      <p:sp>
        <p:nvSpPr>
          <p:cNvPr id="293" name="Google Shape;293;p4"/>
          <p:cNvSpPr txBox="1"/>
          <p:nvPr/>
        </p:nvSpPr>
        <p:spPr>
          <a:xfrm>
            <a:off x="5943600" y="5321797"/>
            <a:ext cx="5760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UNUSED DEPENDENCY:</a:t>
            </a:r>
            <a:endParaRPr b="1" i="1" sz="1200">
              <a:solidFill>
                <a:srgbClr val="FFB8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@tanstack/query-sync-storage-persister listed in package.json but never imported anywhere in src/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5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CATEGORY 3  —  API RESPONSE TIME</a:t>
            </a:r>
            <a:endParaRPr/>
          </a:p>
        </p:txBody>
      </p:sp>
      <p:sp>
        <p:nvSpPr>
          <p:cNvPr id="300" name="Google Shape;300;p5"/>
          <p:cNvSpPr/>
          <p:nvPr/>
        </p:nvSpPr>
        <p:spPr>
          <a:xfrm>
            <a:off x="10058400" y="155448"/>
            <a:ext cx="1371600" cy="256032"/>
          </a:xfrm>
          <a:prstGeom prst="rect">
            <a:avLst/>
          </a:prstGeom>
          <a:solidFill>
            <a:srgbClr val="1A4A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"/>
          <p:cNvSpPr txBox="1"/>
          <p:nvPr/>
        </p:nvSpPr>
        <p:spPr>
          <a:xfrm>
            <a:off x="10104120" y="173736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762 DOCS SEEDED</a:t>
            </a:r>
            <a:endParaRPr/>
          </a:p>
        </p:txBody>
      </p:sp>
      <p:sp>
        <p:nvSpPr>
          <p:cNvPr id="302" name="Google Shape;302;p5"/>
          <p:cNvSpPr txBox="1"/>
          <p:nvPr/>
        </p:nvSpPr>
        <p:spPr>
          <a:xfrm>
            <a:off x="457200" y="82296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BENCHMARK RESULTS</a:t>
            </a:r>
            <a:endParaRPr/>
          </a:p>
        </p:txBody>
      </p:sp>
      <p:sp>
        <p:nvSpPr>
          <p:cNvPr id="303" name="Google Shape;303;p5"/>
          <p:cNvSpPr/>
          <p:nvPr/>
        </p:nvSpPr>
        <p:spPr>
          <a:xfrm>
            <a:off x="457200" y="1207008"/>
            <a:ext cx="3794760" cy="347472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5"/>
          <p:cNvSpPr txBox="1"/>
          <p:nvPr/>
        </p:nvSpPr>
        <p:spPr>
          <a:xfrm>
            <a:off x="548640" y="127101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Endpoint</a:t>
            </a:r>
            <a:endParaRPr/>
          </a:p>
        </p:txBody>
      </p:sp>
      <p:sp>
        <p:nvSpPr>
          <p:cNvPr id="305" name="Google Shape;305;p5"/>
          <p:cNvSpPr/>
          <p:nvPr/>
        </p:nvSpPr>
        <p:spPr>
          <a:xfrm>
            <a:off x="4297680" y="1207008"/>
            <a:ext cx="1325880" cy="347472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5"/>
          <p:cNvSpPr txBox="1"/>
          <p:nvPr/>
        </p:nvSpPr>
        <p:spPr>
          <a:xfrm>
            <a:off x="4389120" y="127101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P50</a:t>
            </a:r>
            <a:endParaRPr/>
          </a:p>
        </p:txBody>
      </p:sp>
      <p:sp>
        <p:nvSpPr>
          <p:cNvPr id="307" name="Google Shape;307;p5"/>
          <p:cNvSpPr/>
          <p:nvPr/>
        </p:nvSpPr>
        <p:spPr>
          <a:xfrm>
            <a:off x="5669280" y="1207008"/>
            <a:ext cx="1325880" cy="347472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5"/>
          <p:cNvSpPr txBox="1"/>
          <p:nvPr/>
        </p:nvSpPr>
        <p:spPr>
          <a:xfrm>
            <a:off x="5760720" y="127101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P95</a:t>
            </a:r>
            <a:endParaRPr/>
          </a:p>
        </p:txBody>
      </p:sp>
      <p:sp>
        <p:nvSpPr>
          <p:cNvPr id="309" name="Google Shape;309;p5"/>
          <p:cNvSpPr/>
          <p:nvPr/>
        </p:nvSpPr>
        <p:spPr>
          <a:xfrm>
            <a:off x="7040880" y="1207008"/>
            <a:ext cx="1325880" cy="347472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5"/>
          <p:cNvSpPr txBox="1"/>
          <p:nvPr/>
        </p:nvSpPr>
        <p:spPr>
          <a:xfrm>
            <a:off x="7132320" y="127101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P99</a:t>
            </a:r>
            <a:endParaRPr/>
          </a:p>
        </p:txBody>
      </p:sp>
      <p:sp>
        <p:nvSpPr>
          <p:cNvPr id="311" name="Google Shape;311;p5"/>
          <p:cNvSpPr/>
          <p:nvPr/>
        </p:nvSpPr>
        <p:spPr>
          <a:xfrm>
            <a:off x="8412480" y="1207008"/>
            <a:ext cx="1325880" cy="347472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5"/>
          <p:cNvSpPr txBox="1"/>
          <p:nvPr/>
        </p:nvSpPr>
        <p:spPr>
          <a:xfrm>
            <a:off x="8503919" y="127101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/>
          </a:p>
        </p:txBody>
      </p:sp>
      <p:sp>
        <p:nvSpPr>
          <p:cNvPr id="313" name="Google Shape;313;p5"/>
          <p:cNvSpPr/>
          <p:nvPr/>
        </p:nvSpPr>
        <p:spPr>
          <a:xfrm>
            <a:off x="457200" y="1572768"/>
            <a:ext cx="379476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5"/>
          <p:cNvSpPr txBox="1"/>
          <p:nvPr/>
        </p:nvSpPr>
        <p:spPr>
          <a:xfrm>
            <a:off x="548640" y="163677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GET /api/issues</a:t>
            </a:r>
            <a:endParaRPr/>
          </a:p>
        </p:txBody>
      </p:sp>
      <p:sp>
        <p:nvSpPr>
          <p:cNvPr id="315" name="Google Shape;315;p5"/>
          <p:cNvSpPr/>
          <p:nvPr/>
        </p:nvSpPr>
        <p:spPr>
          <a:xfrm>
            <a:off x="4297680" y="1572768"/>
            <a:ext cx="132588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5"/>
          <p:cNvSpPr txBox="1"/>
          <p:nvPr/>
        </p:nvSpPr>
        <p:spPr>
          <a:xfrm>
            <a:off x="4389120" y="163677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177ms</a:t>
            </a:r>
            <a:endParaRPr/>
          </a:p>
        </p:txBody>
      </p:sp>
      <p:sp>
        <p:nvSpPr>
          <p:cNvPr id="317" name="Google Shape;317;p5"/>
          <p:cNvSpPr/>
          <p:nvPr/>
        </p:nvSpPr>
        <p:spPr>
          <a:xfrm>
            <a:off x="5669280" y="1572768"/>
            <a:ext cx="132588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5"/>
          <p:cNvSpPr txBox="1"/>
          <p:nvPr/>
        </p:nvSpPr>
        <p:spPr>
          <a:xfrm>
            <a:off x="5760720" y="163677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196ms</a:t>
            </a:r>
            <a:endParaRPr/>
          </a:p>
        </p:txBody>
      </p:sp>
      <p:sp>
        <p:nvSpPr>
          <p:cNvPr id="319" name="Google Shape;319;p5"/>
          <p:cNvSpPr/>
          <p:nvPr/>
        </p:nvSpPr>
        <p:spPr>
          <a:xfrm>
            <a:off x="7040880" y="1572768"/>
            <a:ext cx="132588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5"/>
          <p:cNvSpPr txBox="1"/>
          <p:nvPr/>
        </p:nvSpPr>
        <p:spPr>
          <a:xfrm>
            <a:off x="7132320" y="163677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203ms</a:t>
            </a:r>
            <a:endParaRPr/>
          </a:p>
        </p:txBody>
      </p:sp>
      <p:sp>
        <p:nvSpPr>
          <p:cNvPr id="321" name="Google Shape;321;p5"/>
          <p:cNvSpPr/>
          <p:nvPr/>
        </p:nvSpPr>
        <p:spPr>
          <a:xfrm>
            <a:off x="8412480" y="1572768"/>
            <a:ext cx="132588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5"/>
          <p:cNvSpPr txBox="1"/>
          <p:nvPr/>
        </p:nvSpPr>
        <p:spPr>
          <a:xfrm>
            <a:off x="8503919" y="163677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⚠ SLOW</a:t>
            </a:r>
            <a:endParaRPr/>
          </a:p>
        </p:txBody>
      </p:sp>
      <p:sp>
        <p:nvSpPr>
          <p:cNvPr id="323" name="Google Shape;323;p5"/>
          <p:cNvSpPr/>
          <p:nvPr/>
        </p:nvSpPr>
        <p:spPr>
          <a:xfrm>
            <a:off x="457200" y="1938528"/>
            <a:ext cx="3794760" cy="347472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5"/>
          <p:cNvSpPr txBox="1"/>
          <p:nvPr/>
        </p:nvSpPr>
        <p:spPr>
          <a:xfrm>
            <a:off x="548640" y="200253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GET /api/dashboard/my-week</a:t>
            </a:r>
            <a:endParaRPr/>
          </a:p>
        </p:txBody>
      </p:sp>
      <p:sp>
        <p:nvSpPr>
          <p:cNvPr id="325" name="Google Shape;325;p5"/>
          <p:cNvSpPr/>
          <p:nvPr/>
        </p:nvSpPr>
        <p:spPr>
          <a:xfrm>
            <a:off x="4297680" y="1938528"/>
            <a:ext cx="1325880" cy="347472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5"/>
          <p:cNvSpPr txBox="1"/>
          <p:nvPr/>
        </p:nvSpPr>
        <p:spPr>
          <a:xfrm>
            <a:off x="4389120" y="200253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24ms</a:t>
            </a:r>
            <a:endParaRPr/>
          </a:p>
        </p:txBody>
      </p:sp>
      <p:sp>
        <p:nvSpPr>
          <p:cNvPr id="327" name="Google Shape;327;p5"/>
          <p:cNvSpPr/>
          <p:nvPr/>
        </p:nvSpPr>
        <p:spPr>
          <a:xfrm>
            <a:off x="5669280" y="1938528"/>
            <a:ext cx="1325880" cy="347472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5"/>
          <p:cNvSpPr txBox="1"/>
          <p:nvPr/>
        </p:nvSpPr>
        <p:spPr>
          <a:xfrm>
            <a:off x="5760720" y="200253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62ms</a:t>
            </a:r>
            <a:endParaRPr/>
          </a:p>
        </p:txBody>
      </p:sp>
      <p:sp>
        <p:nvSpPr>
          <p:cNvPr id="329" name="Google Shape;329;p5"/>
          <p:cNvSpPr/>
          <p:nvPr/>
        </p:nvSpPr>
        <p:spPr>
          <a:xfrm>
            <a:off x="7040880" y="1938528"/>
            <a:ext cx="1325880" cy="347472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5"/>
          <p:cNvSpPr txBox="1"/>
          <p:nvPr/>
        </p:nvSpPr>
        <p:spPr>
          <a:xfrm>
            <a:off x="7132320" y="200253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68ms</a:t>
            </a:r>
            <a:endParaRPr/>
          </a:p>
        </p:txBody>
      </p:sp>
      <p:sp>
        <p:nvSpPr>
          <p:cNvPr id="331" name="Google Shape;331;p5"/>
          <p:cNvSpPr/>
          <p:nvPr/>
        </p:nvSpPr>
        <p:spPr>
          <a:xfrm>
            <a:off x="8412480" y="1938528"/>
            <a:ext cx="1325880" cy="347472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5"/>
          <p:cNvSpPr txBox="1"/>
          <p:nvPr/>
        </p:nvSpPr>
        <p:spPr>
          <a:xfrm>
            <a:off x="8503919" y="200253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⚠ SLOW</a:t>
            </a:r>
            <a:endParaRPr/>
          </a:p>
        </p:txBody>
      </p:sp>
      <p:sp>
        <p:nvSpPr>
          <p:cNvPr id="333" name="Google Shape;333;p5"/>
          <p:cNvSpPr/>
          <p:nvPr/>
        </p:nvSpPr>
        <p:spPr>
          <a:xfrm>
            <a:off x="457200" y="2304288"/>
            <a:ext cx="379476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5"/>
          <p:cNvSpPr txBox="1"/>
          <p:nvPr/>
        </p:nvSpPr>
        <p:spPr>
          <a:xfrm>
            <a:off x="548640" y="236829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GET /api/weeks</a:t>
            </a:r>
            <a:endParaRPr/>
          </a:p>
        </p:txBody>
      </p:sp>
      <p:sp>
        <p:nvSpPr>
          <p:cNvPr id="335" name="Google Shape;335;p5"/>
          <p:cNvSpPr/>
          <p:nvPr/>
        </p:nvSpPr>
        <p:spPr>
          <a:xfrm>
            <a:off x="4297680" y="2304288"/>
            <a:ext cx="132588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5"/>
          <p:cNvSpPr txBox="1"/>
          <p:nvPr/>
        </p:nvSpPr>
        <p:spPr>
          <a:xfrm>
            <a:off x="4389120" y="236829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16ms</a:t>
            </a:r>
            <a:endParaRPr/>
          </a:p>
        </p:txBody>
      </p:sp>
      <p:sp>
        <p:nvSpPr>
          <p:cNvPr id="337" name="Google Shape;337;p5"/>
          <p:cNvSpPr/>
          <p:nvPr/>
        </p:nvSpPr>
        <p:spPr>
          <a:xfrm>
            <a:off x="5669280" y="2304288"/>
            <a:ext cx="132588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5"/>
          <p:cNvSpPr txBox="1"/>
          <p:nvPr/>
        </p:nvSpPr>
        <p:spPr>
          <a:xfrm>
            <a:off x="5760720" y="236829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44ms</a:t>
            </a:r>
            <a:endParaRPr/>
          </a:p>
        </p:txBody>
      </p:sp>
      <p:sp>
        <p:nvSpPr>
          <p:cNvPr id="339" name="Google Shape;339;p5"/>
          <p:cNvSpPr/>
          <p:nvPr/>
        </p:nvSpPr>
        <p:spPr>
          <a:xfrm>
            <a:off x="7040880" y="2304288"/>
            <a:ext cx="132588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5"/>
          <p:cNvSpPr txBox="1"/>
          <p:nvPr/>
        </p:nvSpPr>
        <p:spPr>
          <a:xfrm>
            <a:off x="7132320" y="236829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47ms</a:t>
            </a:r>
            <a:endParaRPr/>
          </a:p>
        </p:txBody>
      </p:sp>
      <p:sp>
        <p:nvSpPr>
          <p:cNvPr id="341" name="Google Shape;341;p5"/>
          <p:cNvSpPr/>
          <p:nvPr/>
        </p:nvSpPr>
        <p:spPr>
          <a:xfrm>
            <a:off x="8412480" y="2304288"/>
            <a:ext cx="132588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5"/>
          <p:cNvSpPr txBox="1"/>
          <p:nvPr/>
        </p:nvSpPr>
        <p:spPr>
          <a:xfrm>
            <a:off x="8503919" y="236829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✓ OK</a:t>
            </a:r>
            <a:endParaRPr/>
          </a:p>
        </p:txBody>
      </p:sp>
      <p:sp>
        <p:nvSpPr>
          <p:cNvPr id="343" name="Google Shape;343;p5"/>
          <p:cNvSpPr/>
          <p:nvPr/>
        </p:nvSpPr>
        <p:spPr>
          <a:xfrm>
            <a:off x="457200" y="2670048"/>
            <a:ext cx="3794760" cy="347472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5"/>
          <p:cNvSpPr txBox="1"/>
          <p:nvPr/>
        </p:nvSpPr>
        <p:spPr>
          <a:xfrm>
            <a:off x="548640" y="273405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GET /api/programs</a:t>
            </a:r>
            <a:endParaRPr/>
          </a:p>
        </p:txBody>
      </p:sp>
      <p:sp>
        <p:nvSpPr>
          <p:cNvPr id="345" name="Google Shape;345;p5"/>
          <p:cNvSpPr/>
          <p:nvPr/>
        </p:nvSpPr>
        <p:spPr>
          <a:xfrm>
            <a:off x="4297680" y="2670048"/>
            <a:ext cx="1325880" cy="347472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5"/>
          <p:cNvSpPr txBox="1"/>
          <p:nvPr/>
        </p:nvSpPr>
        <p:spPr>
          <a:xfrm>
            <a:off x="4389120" y="273405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14ms</a:t>
            </a:r>
            <a:endParaRPr/>
          </a:p>
        </p:txBody>
      </p:sp>
      <p:sp>
        <p:nvSpPr>
          <p:cNvPr id="347" name="Google Shape;347;p5"/>
          <p:cNvSpPr/>
          <p:nvPr/>
        </p:nvSpPr>
        <p:spPr>
          <a:xfrm>
            <a:off x="5669280" y="2670048"/>
            <a:ext cx="1325880" cy="347472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"/>
          <p:cNvSpPr txBox="1"/>
          <p:nvPr/>
        </p:nvSpPr>
        <p:spPr>
          <a:xfrm>
            <a:off x="5760720" y="273405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40ms</a:t>
            </a:r>
            <a:endParaRPr/>
          </a:p>
        </p:txBody>
      </p:sp>
      <p:sp>
        <p:nvSpPr>
          <p:cNvPr id="349" name="Google Shape;349;p5"/>
          <p:cNvSpPr/>
          <p:nvPr/>
        </p:nvSpPr>
        <p:spPr>
          <a:xfrm>
            <a:off x="7040880" y="2670048"/>
            <a:ext cx="1325880" cy="347472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5"/>
          <p:cNvSpPr txBox="1"/>
          <p:nvPr/>
        </p:nvSpPr>
        <p:spPr>
          <a:xfrm>
            <a:off x="7132320" y="273405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44ms</a:t>
            </a:r>
            <a:endParaRPr/>
          </a:p>
        </p:txBody>
      </p:sp>
      <p:sp>
        <p:nvSpPr>
          <p:cNvPr id="351" name="Google Shape;351;p5"/>
          <p:cNvSpPr/>
          <p:nvPr/>
        </p:nvSpPr>
        <p:spPr>
          <a:xfrm>
            <a:off x="8412480" y="2670048"/>
            <a:ext cx="1325880" cy="347472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5"/>
          <p:cNvSpPr txBox="1"/>
          <p:nvPr/>
        </p:nvSpPr>
        <p:spPr>
          <a:xfrm>
            <a:off x="8503919" y="273405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✓ OK</a:t>
            </a:r>
            <a:endParaRPr/>
          </a:p>
        </p:txBody>
      </p:sp>
      <p:sp>
        <p:nvSpPr>
          <p:cNvPr id="353" name="Google Shape;353;p5"/>
          <p:cNvSpPr/>
          <p:nvPr/>
        </p:nvSpPr>
        <p:spPr>
          <a:xfrm>
            <a:off x="457200" y="3035808"/>
            <a:ext cx="379476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5"/>
          <p:cNvSpPr txBox="1"/>
          <p:nvPr/>
        </p:nvSpPr>
        <p:spPr>
          <a:xfrm>
            <a:off x="548640" y="309981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GET /api/documents/:id</a:t>
            </a:r>
            <a:endParaRPr/>
          </a:p>
        </p:txBody>
      </p:sp>
      <p:sp>
        <p:nvSpPr>
          <p:cNvPr id="355" name="Google Shape;355;p5"/>
          <p:cNvSpPr/>
          <p:nvPr/>
        </p:nvSpPr>
        <p:spPr>
          <a:xfrm>
            <a:off x="4297680" y="3035808"/>
            <a:ext cx="132588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5"/>
          <p:cNvSpPr txBox="1"/>
          <p:nvPr/>
        </p:nvSpPr>
        <p:spPr>
          <a:xfrm>
            <a:off x="4389120" y="309981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14ms</a:t>
            </a:r>
            <a:endParaRPr/>
          </a:p>
        </p:txBody>
      </p:sp>
      <p:sp>
        <p:nvSpPr>
          <p:cNvPr id="357" name="Google Shape;357;p5"/>
          <p:cNvSpPr/>
          <p:nvPr/>
        </p:nvSpPr>
        <p:spPr>
          <a:xfrm>
            <a:off x="5669280" y="3035808"/>
            <a:ext cx="132588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5"/>
          <p:cNvSpPr txBox="1"/>
          <p:nvPr/>
        </p:nvSpPr>
        <p:spPr>
          <a:xfrm>
            <a:off x="5760720" y="309981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40ms</a:t>
            </a:r>
            <a:endParaRPr/>
          </a:p>
        </p:txBody>
      </p:sp>
      <p:sp>
        <p:nvSpPr>
          <p:cNvPr id="359" name="Google Shape;359;p5"/>
          <p:cNvSpPr/>
          <p:nvPr/>
        </p:nvSpPr>
        <p:spPr>
          <a:xfrm>
            <a:off x="7040880" y="3035808"/>
            <a:ext cx="132588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5"/>
          <p:cNvSpPr txBox="1"/>
          <p:nvPr/>
        </p:nvSpPr>
        <p:spPr>
          <a:xfrm>
            <a:off x="7132320" y="309981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44ms</a:t>
            </a:r>
            <a:endParaRPr/>
          </a:p>
        </p:txBody>
      </p:sp>
      <p:sp>
        <p:nvSpPr>
          <p:cNvPr id="361" name="Google Shape;361;p5"/>
          <p:cNvSpPr/>
          <p:nvPr/>
        </p:nvSpPr>
        <p:spPr>
          <a:xfrm>
            <a:off x="8412480" y="3035808"/>
            <a:ext cx="132588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5"/>
          <p:cNvSpPr txBox="1"/>
          <p:nvPr/>
        </p:nvSpPr>
        <p:spPr>
          <a:xfrm>
            <a:off x="8503919" y="309981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✓ OK</a:t>
            </a:r>
            <a:endParaRPr/>
          </a:p>
        </p:txBody>
      </p:sp>
      <p:sp>
        <p:nvSpPr>
          <p:cNvPr id="363" name="Google Shape;363;p5"/>
          <p:cNvSpPr/>
          <p:nvPr/>
        </p:nvSpPr>
        <p:spPr>
          <a:xfrm>
            <a:off x="457190" y="3442703"/>
            <a:ext cx="11064300" cy="18300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5"/>
          <p:cNvSpPr txBox="1"/>
          <p:nvPr/>
        </p:nvSpPr>
        <p:spPr>
          <a:xfrm>
            <a:off x="457200" y="340156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ROOT CAUSE ANALYSIS</a:t>
            </a:r>
            <a:endParaRPr/>
          </a:p>
        </p:txBody>
      </p:sp>
      <p:sp>
        <p:nvSpPr>
          <p:cNvPr id="365" name="Google Shape;365;p5"/>
          <p:cNvSpPr/>
          <p:nvPr/>
        </p:nvSpPr>
        <p:spPr>
          <a:xfrm>
            <a:off x="457200" y="3749050"/>
            <a:ext cx="4983600" cy="246900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5"/>
          <p:cNvSpPr/>
          <p:nvPr/>
        </p:nvSpPr>
        <p:spPr>
          <a:xfrm>
            <a:off x="457200" y="3749050"/>
            <a:ext cx="4983600" cy="292500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5"/>
          <p:cNvSpPr txBox="1"/>
          <p:nvPr/>
        </p:nvSpPr>
        <p:spPr>
          <a:xfrm>
            <a:off x="548640" y="3776472"/>
            <a:ext cx="5212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🔴  GET /api/issues  —  P99 203ms</a:t>
            </a:r>
            <a:endParaRPr/>
          </a:p>
        </p:txBody>
      </p:sp>
      <p:sp>
        <p:nvSpPr>
          <p:cNvPr id="368" name="Google Shape;368;p5"/>
          <p:cNvSpPr txBox="1"/>
          <p:nvPr/>
        </p:nvSpPr>
        <p:spPr>
          <a:xfrm>
            <a:off x="548640" y="409651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369" name="Google Shape;369;p5"/>
          <p:cNvSpPr txBox="1"/>
          <p:nvPr/>
        </p:nvSpPr>
        <p:spPr>
          <a:xfrm>
            <a:off x="777240" y="4096512"/>
            <a:ext cx="4983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Returns ALL issues (document type) in one response — no pagination</a:t>
            </a:r>
            <a:endParaRPr/>
          </a:p>
        </p:txBody>
      </p:sp>
      <p:sp>
        <p:nvSpPr>
          <p:cNvPr id="370" name="Google Shape;370;p5"/>
          <p:cNvSpPr txBox="1"/>
          <p:nvPr/>
        </p:nvSpPr>
        <p:spPr>
          <a:xfrm>
            <a:off x="548640" y="4443984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371" name="Google Shape;371;p5"/>
          <p:cNvSpPr txBox="1"/>
          <p:nvPr/>
        </p:nvSpPr>
        <p:spPr>
          <a:xfrm>
            <a:off x="777240" y="4397659"/>
            <a:ext cx="498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EVERY REQUEST serializes </a:t>
            </a: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310 KB JSON payload</a:t>
            </a:r>
            <a:r>
              <a:rPr lang="en-US" sz="10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 –</a:t>
            </a: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 includes full TipTap </a:t>
            </a: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document</a:t>
            </a: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 body (d.content) that </a:t>
            </a:r>
            <a:r>
              <a:rPr lang="en-US" sz="10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listview</a:t>
            </a: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 never displays. Un</a:t>
            </a:r>
            <a:r>
              <a:rPr lang="en-US" sz="10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necessary for list view that shows title, state priority and assignee</a:t>
            </a:r>
            <a:endParaRPr/>
          </a:p>
        </p:txBody>
      </p:sp>
      <p:sp>
        <p:nvSpPr>
          <p:cNvPr id="372" name="Google Shape;372;p5"/>
          <p:cNvSpPr txBox="1"/>
          <p:nvPr/>
        </p:nvSpPr>
        <p:spPr>
          <a:xfrm>
            <a:off x="548640" y="5006603"/>
            <a:ext cx="228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373" name="Google Shape;373;p5"/>
          <p:cNvSpPr txBox="1"/>
          <p:nvPr/>
        </p:nvSpPr>
        <p:spPr>
          <a:xfrm>
            <a:off x="777240" y="5006603"/>
            <a:ext cx="4983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At 1000+ issues this degrades linearly — critical scalability risk</a:t>
            </a:r>
            <a:endParaRPr/>
          </a:p>
        </p:txBody>
      </p:sp>
      <p:grpSp>
        <p:nvGrpSpPr>
          <p:cNvPr id="374" name="Google Shape;374;p5"/>
          <p:cNvGrpSpPr/>
          <p:nvPr/>
        </p:nvGrpSpPr>
        <p:grpSpPr>
          <a:xfrm>
            <a:off x="5669274" y="3742182"/>
            <a:ext cx="3179792" cy="2469000"/>
            <a:chOff x="5224273" y="3742227"/>
            <a:chExt cx="5394964" cy="2469000"/>
          </a:xfrm>
        </p:grpSpPr>
        <p:sp>
          <p:nvSpPr>
            <p:cNvPr id="375" name="Google Shape;375;p5"/>
            <p:cNvSpPr/>
            <p:nvPr/>
          </p:nvSpPr>
          <p:spPr>
            <a:xfrm>
              <a:off x="5224273" y="3742227"/>
              <a:ext cx="5394900" cy="2469000"/>
            </a:xfrm>
            <a:prstGeom prst="rect">
              <a:avLst/>
            </a:prstGeom>
            <a:solidFill>
              <a:srgbClr val="0F1E38"/>
            </a:solidFill>
            <a:ln cap="flat" cmpd="sng" w="9525">
              <a:solidFill>
                <a:srgbClr val="007A8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5224337" y="3762789"/>
              <a:ext cx="5394900" cy="292500"/>
            </a:xfrm>
            <a:prstGeom prst="rect">
              <a:avLst/>
            </a:prstGeom>
            <a:solidFill>
              <a:srgbClr val="FFB800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5"/>
            <p:cNvSpPr txBox="1"/>
            <p:nvPr/>
          </p:nvSpPr>
          <p:spPr>
            <a:xfrm>
              <a:off x="5315713" y="3769660"/>
              <a:ext cx="52122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🟡  GET /api/dashboard/my-week  —  P99 68ms</a:t>
              </a:r>
              <a:endParaRPr/>
            </a:p>
          </p:txBody>
        </p:sp>
        <p:sp>
          <p:nvSpPr>
            <p:cNvPr id="378" name="Google Shape;378;p5"/>
            <p:cNvSpPr txBox="1"/>
            <p:nvPr/>
          </p:nvSpPr>
          <p:spPr>
            <a:xfrm>
              <a:off x="5315713" y="4089700"/>
              <a:ext cx="2286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C2E0"/>
                  </a:solidFill>
                  <a:latin typeface="Calibri"/>
                  <a:ea typeface="Calibri"/>
                  <a:cs typeface="Calibri"/>
                  <a:sym typeface="Calibri"/>
                </a:rPr>
                <a:t>▸</a:t>
              </a:r>
              <a:endParaRPr/>
            </a:p>
          </p:txBody>
        </p:sp>
        <p:sp>
          <p:nvSpPr>
            <p:cNvPr id="379" name="Google Shape;379;p5"/>
            <p:cNvSpPr txBox="1"/>
            <p:nvPr/>
          </p:nvSpPr>
          <p:spPr>
            <a:xfrm>
              <a:off x="5544313" y="4089700"/>
              <a:ext cx="4983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D0DDF0"/>
                  </a:solidFill>
                  <a:latin typeface="Calibri"/>
                  <a:ea typeface="Calibri"/>
                  <a:cs typeface="Calibri"/>
                  <a:sym typeface="Calibri"/>
                </a:rPr>
                <a:t>7 sequential DB queries that stack latency additively</a:t>
              </a:r>
              <a:endParaRPr/>
            </a:p>
          </p:txBody>
        </p:sp>
        <p:sp>
          <p:nvSpPr>
            <p:cNvPr id="380" name="Google Shape;380;p5"/>
            <p:cNvSpPr txBox="1"/>
            <p:nvPr/>
          </p:nvSpPr>
          <p:spPr>
            <a:xfrm>
              <a:off x="5315713" y="4437172"/>
              <a:ext cx="2286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C2E0"/>
                  </a:solidFill>
                  <a:latin typeface="Calibri"/>
                  <a:ea typeface="Calibri"/>
                  <a:cs typeface="Calibri"/>
                  <a:sym typeface="Calibri"/>
                </a:rPr>
                <a:t>▸</a:t>
              </a:r>
              <a:endParaRPr/>
            </a:p>
          </p:txBody>
        </p:sp>
        <p:sp>
          <p:nvSpPr>
            <p:cNvPr id="381" name="Google Shape;381;p5"/>
            <p:cNvSpPr txBox="1"/>
            <p:nvPr/>
          </p:nvSpPr>
          <p:spPr>
            <a:xfrm>
              <a:off x="5544313" y="4437172"/>
              <a:ext cx="4983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D0DDF0"/>
                  </a:solidFill>
                  <a:latin typeface="Calibri"/>
                  <a:ea typeface="Calibri"/>
                  <a:cs typeface="Calibri"/>
                  <a:sym typeface="Calibri"/>
                </a:rPr>
                <a:t>At 50 concurrent connections, connection pool contention amplifies </a:t>
              </a:r>
              <a:endParaRPr/>
            </a:p>
          </p:txBody>
        </p:sp>
        <p:sp>
          <p:nvSpPr>
            <p:cNvPr id="382" name="Google Shape;382;p5"/>
            <p:cNvSpPr txBox="1"/>
            <p:nvPr/>
          </p:nvSpPr>
          <p:spPr>
            <a:xfrm>
              <a:off x="5315713" y="4784644"/>
              <a:ext cx="2286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C2E0"/>
                  </a:solidFill>
                  <a:latin typeface="Calibri"/>
                  <a:ea typeface="Calibri"/>
                  <a:cs typeface="Calibri"/>
                  <a:sym typeface="Calibri"/>
                </a:rPr>
                <a:t>▸</a:t>
              </a:r>
              <a:endParaRPr/>
            </a:p>
          </p:txBody>
        </p:sp>
        <p:sp>
          <p:nvSpPr>
            <p:cNvPr id="383" name="Google Shape;383;p5"/>
            <p:cNvSpPr txBox="1"/>
            <p:nvPr/>
          </p:nvSpPr>
          <p:spPr>
            <a:xfrm>
              <a:off x="5544313" y="4784644"/>
              <a:ext cx="4983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D0DDF0"/>
                  </a:solidFill>
                  <a:latin typeface="Calibri"/>
                  <a:ea typeface="Calibri"/>
                  <a:cs typeface="Calibri"/>
                  <a:sym typeface="Calibri"/>
                </a:rPr>
                <a:t>No query batching. Independent queries (plan + retro + standups) run sequentially</a:t>
              </a:r>
              <a:endParaRPr/>
            </a:p>
          </p:txBody>
        </p:sp>
        <p:sp>
          <p:nvSpPr>
            <p:cNvPr id="384" name="Google Shape;384;p5"/>
            <p:cNvSpPr txBox="1"/>
            <p:nvPr/>
          </p:nvSpPr>
          <p:spPr>
            <a:xfrm>
              <a:off x="5315713" y="5132116"/>
              <a:ext cx="2286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C2E0"/>
                  </a:solidFill>
                  <a:latin typeface="Calibri"/>
                  <a:ea typeface="Calibri"/>
                  <a:cs typeface="Calibri"/>
                  <a:sym typeface="Calibri"/>
                </a:rPr>
                <a:t>▸</a:t>
              </a:r>
              <a:endParaRPr/>
            </a:p>
          </p:txBody>
        </p:sp>
        <p:sp>
          <p:nvSpPr>
            <p:cNvPr id="385" name="Google Shape;385;p5"/>
            <p:cNvSpPr txBox="1"/>
            <p:nvPr/>
          </p:nvSpPr>
          <p:spPr>
            <a:xfrm>
              <a:off x="5544313" y="5132116"/>
              <a:ext cx="4983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1000">
                  <a:solidFill>
                    <a:srgbClr val="D0DDF0"/>
                  </a:solidFill>
                  <a:latin typeface="Calibri"/>
                  <a:ea typeface="Calibri"/>
                  <a:cs typeface="Calibri"/>
                  <a:sym typeface="Calibri"/>
                </a:rPr>
                <a:t>Promise.all() would run them concurrently/parallel — trivial 1-line fix</a:t>
              </a:r>
              <a:endParaRPr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6" name="Google Shape;386;p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TARGET: 20% P95 reduction on 2+ endpoints  ·  Fix: remove d.content from issues list  +  parallelize dashboard queries</a:t>
            </a:r>
            <a:endParaRPr/>
          </a:p>
        </p:txBody>
      </p:sp>
      <p:sp>
        <p:nvSpPr>
          <p:cNvPr id="387" name="Google Shape;387;p5"/>
          <p:cNvSpPr/>
          <p:nvPr/>
        </p:nvSpPr>
        <p:spPr>
          <a:xfrm>
            <a:off x="9077549" y="3753075"/>
            <a:ext cx="2909400" cy="244710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5"/>
          <p:cNvSpPr/>
          <p:nvPr/>
        </p:nvSpPr>
        <p:spPr>
          <a:xfrm>
            <a:off x="9077550" y="3764905"/>
            <a:ext cx="2909400" cy="274200"/>
          </a:xfrm>
          <a:prstGeom prst="rect">
            <a:avLst/>
          </a:prstGeom>
          <a:solidFill>
            <a:srgbClr val="FFB8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AUTH Overhead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5"/>
          <p:cNvSpPr txBox="1"/>
          <p:nvPr/>
        </p:nvSpPr>
        <p:spPr>
          <a:xfrm flipH="1">
            <a:off x="9068051" y="4114078"/>
            <a:ext cx="228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390" name="Google Shape;390;p5"/>
          <p:cNvSpPr txBox="1"/>
          <p:nvPr/>
        </p:nvSpPr>
        <p:spPr>
          <a:xfrm>
            <a:off x="9205160" y="4067805"/>
            <a:ext cx="278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No index on token_hash. The Bearer Token auth does a SELECT on api_tokens which does a full table scan per req</a:t>
            </a:r>
            <a:r>
              <a:rPr b="1" lang="en-US" sz="900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uest. minor (&lt; 1ms) impact at current scale but scales linearly with token count. Cheap fix.</a:t>
            </a:r>
            <a:endParaRPr/>
          </a:p>
        </p:txBody>
      </p:sp>
      <p:sp>
        <p:nvSpPr>
          <p:cNvPr id="391" name="Google Shape;391;p5"/>
          <p:cNvSpPr txBox="1"/>
          <p:nvPr/>
        </p:nvSpPr>
        <p:spPr>
          <a:xfrm flipH="1">
            <a:off x="9077551" y="5150328"/>
            <a:ext cx="228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392" name="Google Shape;392;p5"/>
          <p:cNvSpPr txBox="1"/>
          <p:nvPr/>
        </p:nvSpPr>
        <p:spPr>
          <a:xfrm>
            <a:off x="9205160" y="5075580"/>
            <a:ext cx="278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Throttling last_used_at UPDATE from per-request to once a minute. Minor (&lt;1ms) impact at all scales. But reduces DB write load substantially. Operational health improvement vs latency improvement.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6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CATEGORY 4  —  DATABASE QUERY EFFICIENCY</a:t>
            </a:r>
            <a:endParaRPr/>
          </a:p>
        </p:txBody>
      </p:sp>
      <p:sp>
        <p:nvSpPr>
          <p:cNvPr id="399" name="Google Shape;399;p6"/>
          <p:cNvSpPr txBox="1"/>
          <p:nvPr/>
        </p:nvSpPr>
        <p:spPr>
          <a:xfrm>
            <a:off x="457200" y="822960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QUERY COUNTS PER USER FLOW</a:t>
            </a:r>
            <a:endParaRPr/>
          </a:p>
        </p:txBody>
      </p:sp>
      <p:sp>
        <p:nvSpPr>
          <p:cNvPr id="400" name="Google Shape;400;p6"/>
          <p:cNvSpPr/>
          <p:nvPr/>
        </p:nvSpPr>
        <p:spPr>
          <a:xfrm>
            <a:off x="457200" y="1170432"/>
            <a:ext cx="3611880" cy="347472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6"/>
          <p:cNvSpPr txBox="1"/>
          <p:nvPr/>
        </p:nvSpPr>
        <p:spPr>
          <a:xfrm>
            <a:off x="548640" y="12344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User Flow</a:t>
            </a:r>
            <a:endParaRPr/>
          </a:p>
        </p:txBody>
      </p:sp>
      <p:sp>
        <p:nvSpPr>
          <p:cNvPr id="402" name="Google Shape;402;p6"/>
          <p:cNvSpPr/>
          <p:nvPr/>
        </p:nvSpPr>
        <p:spPr>
          <a:xfrm>
            <a:off x="4114800" y="1170432"/>
            <a:ext cx="1965960" cy="347472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6"/>
          <p:cNvSpPr txBox="1"/>
          <p:nvPr/>
        </p:nvSpPr>
        <p:spPr>
          <a:xfrm>
            <a:off x="4206240" y="12344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Total Queries</a:t>
            </a:r>
            <a:endParaRPr/>
          </a:p>
        </p:txBody>
      </p:sp>
      <p:sp>
        <p:nvSpPr>
          <p:cNvPr id="404" name="Google Shape;404;p6"/>
          <p:cNvSpPr/>
          <p:nvPr/>
        </p:nvSpPr>
        <p:spPr>
          <a:xfrm>
            <a:off x="6126480" y="1170432"/>
            <a:ext cx="1965960" cy="347472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6"/>
          <p:cNvSpPr txBox="1"/>
          <p:nvPr/>
        </p:nvSpPr>
        <p:spPr>
          <a:xfrm>
            <a:off x="6217920" y="12344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Slowest Query</a:t>
            </a:r>
            <a:endParaRPr/>
          </a:p>
        </p:txBody>
      </p:sp>
      <p:sp>
        <p:nvSpPr>
          <p:cNvPr id="406" name="Google Shape;406;p6"/>
          <p:cNvSpPr/>
          <p:nvPr/>
        </p:nvSpPr>
        <p:spPr>
          <a:xfrm>
            <a:off x="8138160" y="1170432"/>
            <a:ext cx="1965960" cy="347472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6"/>
          <p:cNvSpPr txBox="1"/>
          <p:nvPr/>
        </p:nvSpPr>
        <p:spPr>
          <a:xfrm>
            <a:off x="8229600" y="12344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N+1 Detected?</a:t>
            </a:r>
            <a:endParaRPr/>
          </a:p>
        </p:txBody>
      </p:sp>
      <p:sp>
        <p:nvSpPr>
          <p:cNvPr id="408" name="Google Shape;408;p6"/>
          <p:cNvSpPr/>
          <p:nvPr/>
        </p:nvSpPr>
        <p:spPr>
          <a:xfrm>
            <a:off x="457200" y="1536192"/>
            <a:ext cx="361188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6"/>
          <p:cNvSpPr txBox="1"/>
          <p:nvPr/>
        </p:nvSpPr>
        <p:spPr>
          <a:xfrm>
            <a:off x="548640" y="160020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Load main page</a:t>
            </a:r>
            <a:endParaRPr/>
          </a:p>
        </p:txBody>
      </p:sp>
      <p:sp>
        <p:nvSpPr>
          <p:cNvPr id="410" name="Google Shape;410;p6"/>
          <p:cNvSpPr/>
          <p:nvPr/>
        </p:nvSpPr>
        <p:spPr>
          <a:xfrm>
            <a:off x="4114800" y="1536192"/>
            <a:ext cx="196596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6"/>
          <p:cNvSpPr txBox="1"/>
          <p:nvPr/>
        </p:nvSpPr>
        <p:spPr>
          <a:xfrm>
            <a:off x="4206240" y="16002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412" name="Google Shape;412;p6"/>
          <p:cNvSpPr/>
          <p:nvPr/>
        </p:nvSpPr>
        <p:spPr>
          <a:xfrm>
            <a:off x="6126480" y="1536192"/>
            <a:ext cx="196596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6"/>
          <p:cNvSpPr txBox="1"/>
          <p:nvPr/>
        </p:nvSpPr>
        <p:spPr>
          <a:xfrm>
            <a:off x="6217920" y="16002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1.08ms</a:t>
            </a:r>
            <a:endParaRPr/>
          </a:p>
        </p:txBody>
      </p:sp>
      <p:sp>
        <p:nvSpPr>
          <p:cNvPr id="414" name="Google Shape;414;p6"/>
          <p:cNvSpPr/>
          <p:nvPr/>
        </p:nvSpPr>
        <p:spPr>
          <a:xfrm>
            <a:off x="8138160" y="1536192"/>
            <a:ext cx="196596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6"/>
          <p:cNvSpPr txBox="1"/>
          <p:nvPr/>
        </p:nvSpPr>
        <p:spPr>
          <a:xfrm>
            <a:off x="8229600" y="16002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416" name="Google Shape;416;p6"/>
          <p:cNvSpPr/>
          <p:nvPr/>
        </p:nvSpPr>
        <p:spPr>
          <a:xfrm>
            <a:off x="457200" y="1901952"/>
            <a:ext cx="3611880" cy="347472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6"/>
          <p:cNvSpPr txBox="1"/>
          <p:nvPr/>
        </p:nvSpPr>
        <p:spPr>
          <a:xfrm>
            <a:off x="548640" y="196596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View a document</a:t>
            </a:r>
            <a:endParaRPr/>
          </a:p>
        </p:txBody>
      </p:sp>
      <p:sp>
        <p:nvSpPr>
          <p:cNvPr id="418" name="Google Shape;418;p6"/>
          <p:cNvSpPr/>
          <p:nvPr/>
        </p:nvSpPr>
        <p:spPr>
          <a:xfrm>
            <a:off x="4114800" y="1901952"/>
            <a:ext cx="1965960" cy="347472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6"/>
          <p:cNvSpPr txBox="1"/>
          <p:nvPr/>
        </p:nvSpPr>
        <p:spPr>
          <a:xfrm>
            <a:off x="4206240" y="19659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420" name="Google Shape;420;p6"/>
          <p:cNvSpPr/>
          <p:nvPr/>
        </p:nvSpPr>
        <p:spPr>
          <a:xfrm>
            <a:off x="6126480" y="1901952"/>
            <a:ext cx="1965960" cy="347472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6"/>
          <p:cNvSpPr txBox="1"/>
          <p:nvPr/>
        </p:nvSpPr>
        <p:spPr>
          <a:xfrm>
            <a:off x="6217920" y="19659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0.92ms</a:t>
            </a:r>
            <a:endParaRPr/>
          </a:p>
        </p:txBody>
      </p:sp>
      <p:sp>
        <p:nvSpPr>
          <p:cNvPr id="422" name="Google Shape;422;p6"/>
          <p:cNvSpPr/>
          <p:nvPr/>
        </p:nvSpPr>
        <p:spPr>
          <a:xfrm>
            <a:off x="8138160" y="1901952"/>
            <a:ext cx="1965960" cy="347472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"/>
          <p:cNvSpPr txBox="1"/>
          <p:nvPr/>
        </p:nvSpPr>
        <p:spPr>
          <a:xfrm>
            <a:off x="8229600" y="19659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424" name="Google Shape;424;p6"/>
          <p:cNvSpPr/>
          <p:nvPr/>
        </p:nvSpPr>
        <p:spPr>
          <a:xfrm>
            <a:off x="457200" y="2267712"/>
            <a:ext cx="361188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6"/>
          <p:cNvSpPr txBox="1"/>
          <p:nvPr/>
        </p:nvSpPr>
        <p:spPr>
          <a:xfrm>
            <a:off x="548640" y="23317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List issues</a:t>
            </a:r>
            <a:endParaRPr/>
          </a:p>
        </p:txBody>
      </p:sp>
      <p:sp>
        <p:nvSpPr>
          <p:cNvPr id="426" name="Google Shape;426;p6"/>
          <p:cNvSpPr/>
          <p:nvPr/>
        </p:nvSpPr>
        <p:spPr>
          <a:xfrm>
            <a:off x="4114800" y="2267712"/>
            <a:ext cx="196596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6"/>
          <p:cNvSpPr txBox="1"/>
          <p:nvPr/>
        </p:nvSpPr>
        <p:spPr>
          <a:xfrm>
            <a:off x="4206240" y="23317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28" name="Google Shape;428;p6"/>
          <p:cNvSpPr/>
          <p:nvPr/>
        </p:nvSpPr>
        <p:spPr>
          <a:xfrm>
            <a:off x="6126480" y="2267712"/>
            <a:ext cx="196596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6"/>
          <p:cNvSpPr txBox="1"/>
          <p:nvPr/>
        </p:nvSpPr>
        <p:spPr>
          <a:xfrm>
            <a:off x="6217920" y="23317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2.76ms</a:t>
            </a:r>
            <a:endParaRPr/>
          </a:p>
        </p:txBody>
      </p:sp>
      <p:sp>
        <p:nvSpPr>
          <p:cNvPr id="430" name="Google Shape;430;p6"/>
          <p:cNvSpPr/>
          <p:nvPr/>
        </p:nvSpPr>
        <p:spPr>
          <a:xfrm>
            <a:off x="8138160" y="2267712"/>
            <a:ext cx="196596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6"/>
          <p:cNvSpPr txBox="1"/>
          <p:nvPr/>
        </p:nvSpPr>
        <p:spPr>
          <a:xfrm>
            <a:off x="8229600" y="23317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432" name="Google Shape;432;p6"/>
          <p:cNvSpPr/>
          <p:nvPr/>
        </p:nvSpPr>
        <p:spPr>
          <a:xfrm>
            <a:off x="457200" y="2633472"/>
            <a:ext cx="3611880" cy="347472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6"/>
          <p:cNvSpPr txBox="1"/>
          <p:nvPr/>
        </p:nvSpPr>
        <p:spPr>
          <a:xfrm>
            <a:off x="548640" y="2697479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Load sprint board</a:t>
            </a:r>
            <a:endParaRPr/>
          </a:p>
        </p:txBody>
      </p:sp>
      <p:sp>
        <p:nvSpPr>
          <p:cNvPr id="434" name="Google Shape;434;p6"/>
          <p:cNvSpPr/>
          <p:nvPr/>
        </p:nvSpPr>
        <p:spPr>
          <a:xfrm>
            <a:off x="4114800" y="2633472"/>
            <a:ext cx="1965960" cy="347472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6"/>
          <p:cNvSpPr txBox="1"/>
          <p:nvPr/>
        </p:nvSpPr>
        <p:spPr>
          <a:xfrm>
            <a:off x="4206240" y="2697479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436" name="Google Shape;436;p6"/>
          <p:cNvSpPr/>
          <p:nvPr/>
        </p:nvSpPr>
        <p:spPr>
          <a:xfrm>
            <a:off x="6126480" y="2633472"/>
            <a:ext cx="1965960" cy="347472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6"/>
          <p:cNvSpPr txBox="1"/>
          <p:nvPr/>
        </p:nvSpPr>
        <p:spPr>
          <a:xfrm>
            <a:off x="6217920" y="2697479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1.12ms</a:t>
            </a:r>
            <a:endParaRPr/>
          </a:p>
        </p:txBody>
      </p:sp>
      <p:sp>
        <p:nvSpPr>
          <p:cNvPr id="438" name="Google Shape;438;p6"/>
          <p:cNvSpPr/>
          <p:nvPr/>
        </p:nvSpPr>
        <p:spPr>
          <a:xfrm>
            <a:off x="8138160" y="2633472"/>
            <a:ext cx="1965960" cy="347472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6"/>
          <p:cNvSpPr txBox="1"/>
          <p:nvPr/>
        </p:nvSpPr>
        <p:spPr>
          <a:xfrm>
            <a:off x="8229600" y="2697479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440" name="Google Shape;440;p6"/>
          <p:cNvSpPr/>
          <p:nvPr/>
        </p:nvSpPr>
        <p:spPr>
          <a:xfrm>
            <a:off x="457200" y="2999232"/>
            <a:ext cx="361188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6"/>
          <p:cNvSpPr txBox="1"/>
          <p:nvPr/>
        </p:nvSpPr>
        <p:spPr>
          <a:xfrm>
            <a:off x="548640" y="30632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Search content</a:t>
            </a:r>
            <a:endParaRPr/>
          </a:p>
        </p:txBody>
      </p:sp>
      <p:sp>
        <p:nvSpPr>
          <p:cNvPr id="442" name="Google Shape;442;p6"/>
          <p:cNvSpPr/>
          <p:nvPr/>
        </p:nvSpPr>
        <p:spPr>
          <a:xfrm>
            <a:off x="4114800" y="2999232"/>
            <a:ext cx="196596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6"/>
          <p:cNvSpPr txBox="1"/>
          <p:nvPr/>
        </p:nvSpPr>
        <p:spPr>
          <a:xfrm>
            <a:off x="4206240" y="30632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44" name="Google Shape;444;p6"/>
          <p:cNvSpPr/>
          <p:nvPr/>
        </p:nvSpPr>
        <p:spPr>
          <a:xfrm>
            <a:off x="6126480" y="2999232"/>
            <a:ext cx="196596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6"/>
          <p:cNvSpPr txBox="1"/>
          <p:nvPr/>
        </p:nvSpPr>
        <p:spPr>
          <a:xfrm>
            <a:off x="6217920" y="30632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0.99ms</a:t>
            </a:r>
            <a:endParaRPr/>
          </a:p>
        </p:txBody>
      </p:sp>
      <p:sp>
        <p:nvSpPr>
          <p:cNvPr id="446" name="Google Shape;446;p6"/>
          <p:cNvSpPr/>
          <p:nvPr/>
        </p:nvSpPr>
        <p:spPr>
          <a:xfrm>
            <a:off x="8138160" y="2999232"/>
            <a:ext cx="1965960" cy="347472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6"/>
          <p:cNvSpPr txBox="1"/>
          <p:nvPr/>
        </p:nvSpPr>
        <p:spPr>
          <a:xfrm>
            <a:off x="8229600" y="30632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448" name="Google Shape;448;p6"/>
          <p:cNvSpPr/>
          <p:nvPr/>
        </p:nvSpPr>
        <p:spPr>
          <a:xfrm>
            <a:off x="548640" y="3456432"/>
            <a:ext cx="11064240" cy="18288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6"/>
          <p:cNvSpPr txBox="1"/>
          <p:nvPr/>
        </p:nvSpPr>
        <p:spPr>
          <a:xfrm>
            <a:off x="457200" y="3547872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IMPROVEMENT PLAN</a:t>
            </a:r>
            <a:endParaRPr/>
          </a:p>
        </p:txBody>
      </p:sp>
      <p:sp>
        <p:nvSpPr>
          <p:cNvPr id="450" name="Google Shape;450;p6"/>
          <p:cNvSpPr/>
          <p:nvPr/>
        </p:nvSpPr>
        <p:spPr>
          <a:xfrm>
            <a:off x="457200" y="3913632"/>
            <a:ext cx="5394960" cy="246888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6"/>
          <p:cNvSpPr/>
          <p:nvPr/>
        </p:nvSpPr>
        <p:spPr>
          <a:xfrm>
            <a:off x="457200" y="3913632"/>
            <a:ext cx="5394960" cy="274320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6"/>
          <p:cNvSpPr txBox="1"/>
          <p:nvPr/>
        </p:nvSpPr>
        <p:spPr>
          <a:xfrm>
            <a:off x="548640" y="3931920"/>
            <a:ext cx="5212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 1: 22 → 14 queries on main page (36% reduction)</a:t>
            </a:r>
            <a:endParaRPr/>
          </a:p>
        </p:txBody>
      </p:sp>
      <p:sp>
        <p:nvSpPr>
          <p:cNvPr id="453" name="Google Shape;453;p6"/>
          <p:cNvSpPr txBox="1"/>
          <p:nvPr/>
        </p:nvSpPr>
        <p:spPr>
          <a:xfrm>
            <a:off x="548640" y="425196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454" name="Google Shape;454;p6"/>
          <p:cNvSpPr txBox="1"/>
          <p:nvPr/>
        </p:nvSpPr>
        <p:spPr>
          <a:xfrm>
            <a:off x="777240" y="4251960"/>
            <a:ext cx="4983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Auth overhead = 11 of 22 queries — biggest single optimization target (8 queries)</a:t>
            </a:r>
            <a:endParaRPr sz="1000">
              <a:solidFill>
                <a:srgbClr val="D0DD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6"/>
          <p:cNvSpPr txBox="1"/>
          <p:nvPr/>
        </p:nvSpPr>
        <p:spPr>
          <a:xfrm>
            <a:off x="548640" y="459943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456" name="Google Shape;456;p6"/>
          <p:cNvSpPr txBox="1"/>
          <p:nvPr/>
        </p:nvSpPr>
        <p:spPr>
          <a:xfrm>
            <a:off x="777240" y="4599432"/>
            <a:ext cx="4983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Combine token lookup + workspace role check into 1 query (saves 3)</a:t>
            </a:r>
            <a:endParaRPr sz="1000">
              <a:solidFill>
                <a:srgbClr val="D0DD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6"/>
          <p:cNvSpPr txBox="1"/>
          <p:nvPr/>
        </p:nvSpPr>
        <p:spPr>
          <a:xfrm>
            <a:off x="548640" y="4946904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458" name="Google Shape;458;p6"/>
          <p:cNvSpPr txBox="1"/>
          <p:nvPr/>
        </p:nvSpPr>
        <p:spPr>
          <a:xfrm>
            <a:off x="777240" y="4946904"/>
            <a:ext cx="4983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Throttle last_used_at UPDATE to once/min (saves 4 per-request writes)</a:t>
            </a:r>
            <a:endParaRPr/>
          </a:p>
        </p:txBody>
      </p:sp>
      <p:sp>
        <p:nvSpPr>
          <p:cNvPr id="459" name="Google Shape;459;p6"/>
          <p:cNvSpPr txBox="1"/>
          <p:nvPr/>
        </p:nvSpPr>
        <p:spPr>
          <a:xfrm>
            <a:off x="548640" y="5294376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460" name="Google Shape;460;p6"/>
          <p:cNvSpPr txBox="1"/>
          <p:nvPr/>
        </p:nvSpPr>
        <p:spPr>
          <a:xfrm>
            <a:off x="777240" y="5294376"/>
            <a:ext cx="4983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Remove duplicate SELECT sprint_start_date FROM workspaces (saves 1)</a:t>
            </a:r>
            <a:endParaRPr sz="1000">
              <a:solidFill>
                <a:srgbClr val="D0DD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6"/>
          <p:cNvSpPr/>
          <p:nvPr/>
        </p:nvSpPr>
        <p:spPr>
          <a:xfrm>
            <a:off x="6309360" y="3913632"/>
            <a:ext cx="5394960" cy="246888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6"/>
          <p:cNvSpPr/>
          <p:nvPr/>
        </p:nvSpPr>
        <p:spPr>
          <a:xfrm>
            <a:off x="6309360" y="3913632"/>
            <a:ext cx="5394960" cy="274320"/>
          </a:xfrm>
          <a:prstGeom prst="rect">
            <a:avLst/>
          </a:prstGeom>
          <a:solidFill>
            <a:srgbClr val="4A2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6"/>
          <p:cNvSpPr txBox="1"/>
          <p:nvPr/>
        </p:nvSpPr>
        <p:spPr>
          <a:xfrm>
            <a:off x="6400800" y="3931920"/>
            <a:ext cx="5212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TARGET 2: Issues query </a:t>
            </a:r>
            <a:r>
              <a:rPr b="1" lang="en-US" sz="1000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2.76</a:t>
            </a:r>
            <a:r>
              <a:rPr b="1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 → 0.</a:t>
            </a:r>
            <a:r>
              <a:rPr b="1" lang="en-US" sz="1000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r>
              <a:rPr b="1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ms (~75% reduction)</a:t>
            </a:r>
            <a:endParaRPr/>
          </a:p>
        </p:txBody>
      </p:sp>
      <p:sp>
        <p:nvSpPr>
          <p:cNvPr id="464" name="Google Shape;464;p6"/>
          <p:cNvSpPr txBox="1"/>
          <p:nvPr/>
        </p:nvSpPr>
        <p:spPr>
          <a:xfrm>
            <a:off x="6400800" y="425196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465" name="Google Shape;465;p6"/>
          <p:cNvSpPr txBox="1"/>
          <p:nvPr/>
        </p:nvSpPr>
        <p:spPr>
          <a:xfrm>
            <a:off x="6629400" y="4251960"/>
            <a:ext cx="498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Remove person_doc LEFT JOIN — checks if assignee is archived.</a:t>
            </a:r>
            <a:r>
              <a:rPr lang="en-US" sz="10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are condition doesn</a:t>
            </a:r>
            <a:r>
              <a:rPr lang="en-US" sz="10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’t justify joining the document table against itself on a JSONB text comparison for every single request.</a:t>
            </a:r>
            <a:endParaRPr sz="1000">
              <a:solidFill>
                <a:srgbClr val="D0DD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6"/>
          <p:cNvSpPr txBox="1"/>
          <p:nvPr/>
        </p:nvSpPr>
        <p:spPr>
          <a:xfrm>
            <a:off x="6400800" y="4732624"/>
            <a:ext cx="228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467" name="Google Shape;467;p6"/>
          <p:cNvSpPr txBox="1"/>
          <p:nvPr/>
        </p:nvSpPr>
        <p:spPr>
          <a:xfrm>
            <a:off x="6629400" y="4732624"/>
            <a:ext cx="498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Implement lazy lookup on single-issue view only. When user selects a specific issue, k</a:t>
            </a: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eep JOIN only on single-issue view (GET /api/documents/:id) where it covers 1 row</a:t>
            </a:r>
            <a:endParaRPr/>
          </a:p>
        </p:txBody>
      </p:sp>
      <p:sp>
        <p:nvSpPr>
          <p:cNvPr id="468" name="Google Shape;468;p6"/>
          <p:cNvSpPr txBox="1"/>
          <p:nvPr/>
        </p:nvSpPr>
        <p:spPr>
          <a:xfrm>
            <a:off x="6400800" y="5146797"/>
            <a:ext cx="228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469" name="Google Shape;469;p6"/>
          <p:cNvSpPr txBox="1"/>
          <p:nvPr/>
        </p:nvSpPr>
        <p:spPr>
          <a:xfrm>
            <a:off x="6629400" y="5146797"/>
            <a:ext cx="498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Remove d.content from SELECT —</a:t>
            </a:r>
            <a:r>
              <a:rPr lang="en-US" sz="10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 fetches the full TipTap document body for all issues that the </a:t>
            </a: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 listview never renders</a:t>
            </a:r>
            <a:r>
              <a:rPr lang="en-US" sz="10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rops response 310 KB → 38 KB with no impact to </a:t>
            </a:r>
            <a:r>
              <a:rPr lang="en-US" sz="1000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/>
          </a:p>
        </p:txBody>
      </p:sp>
      <p:sp>
        <p:nvSpPr>
          <p:cNvPr id="470" name="Google Shape;470;p6"/>
          <p:cNvSpPr txBox="1"/>
          <p:nvPr/>
        </p:nvSpPr>
        <p:spPr>
          <a:xfrm>
            <a:off x="6400800" y="5513266"/>
            <a:ext cx="228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471" name="Google Shape;471;p6"/>
          <p:cNvSpPr txBox="1"/>
          <p:nvPr/>
        </p:nvSpPr>
        <p:spPr>
          <a:xfrm>
            <a:off x="6629400" y="5513266"/>
            <a:ext cx="4983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Add index on api_tokens.token_hash — currently full table scan on every auth request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7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CATEGORY 5  —  TEST COVERAGE</a:t>
            </a:r>
            <a:endParaRPr/>
          </a:p>
        </p:txBody>
      </p:sp>
      <p:sp>
        <p:nvSpPr>
          <p:cNvPr id="478" name="Google Shape;478;p7"/>
          <p:cNvSpPr/>
          <p:nvPr/>
        </p:nvSpPr>
        <p:spPr>
          <a:xfrm>
            <a:off x="365760" y="822960"/>
            <a:ext cx="2194560" cy="100584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7"/>
          <p:cNvSpPr txBox="1"/>
          <p:nvPr/>
        </p:nvSpPr>
        <p:spPr>
          <a:xfrm>
            <a:off x="457200" y="9144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1,333</a:t>
            </a:r>
            <a:endParaRPr/>
          </a:p>
        </p:txBody>
      </p:sp>
      <p:sp>
        <p:nvSpPr>
          <p:cNvPr id="480" name="Google Shape;480;p7"/>
          <p:cNvSpPr txBox="1"/>
          <p:nvPr/>
        </p:nvSpPr>
        <p:spPr>
          <a:xfrm>
            <a:off x="457200" y="14813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Total Tests</a:t>
            </a:r>
            <a:endParaRPr/>
          </a:p>
        </p:txBody>
      </p:sp>
      <p:sp>
        <p:nvSpPr>
          <p:cNvPr id="481" name="Google Shape;481;p7"/>
          <p:cNvSpPr/>
          <p:nvPr/>
        </p:nvSpPr>
        <p:spPr>
          <a:xfrm>
            <a:off x="2651760" y="822960"/>
            <a:ext cx="2194560" cy="100584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7"/>
          <p:cNvSpPr txBox="1"/>
          <p:nvPr/>
        </p:nvSpPr>
        <p:spPr>
          <a:xfrm>
            <a:off x="2743200" y="9144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34%</a:t>
            </a:r>
            <a:endParaRPr/>
          </a:p>
        </p:txBody>
      </p:sp>
      <p:sp>
        <p:nvSpPr>
          <p:cNvPr id="483" name="Google Shape;483;p7"/>
          <p:cNvSpPr txBox="1"/>
          <p:nvPr/>
        </p:nvSpPr>
        <p:spPr>
          <a:xfrm>
            <a:off x="2743200" y="14813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Actually Run</a:t>
            </a:r>
            <a:endParaRPr/>
          </a:p>
        </p:txBody>
      </p:sp>
      <p:sp>
        <p:nvSpPr>
          <p:cNvPr id="484" name="Google Shape;484;p7"/>
          <p:cNvSpPr/>
          <p:nvPr/>
        </p:nvSpPr>
        <p:spPr>
          <a:xfrm>
            <a:off x="4937760" y="822960"/>
            <a:ext cx="2194560" cy="100584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7"/>
          <p:cNvSpPr txBox="1"/>
          <p:nvPr/>
        </p:nvSpPr>
        <p:spPr>
          <a:xfrm>
            <a:off x="5029200" y="9144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451 / 0</a:t>
            </a:r>
            <a:endParaRPr/>
          </a:p>
        </p:txBody>
      </p:sp>
      <p:sp>
        <p:nvSpPr>
          <p:cNvPr id="486" name="Google Shape;486;p7"/>
          <p:cNvSpPr txBox="1"/>
          <p:nvPr/>
        </p:nvSpPr>
        <p:spPr>
          <a:xfrm>
            <a:off x="5029200" y="14813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API Pass/Fail</a:t>
            </a:r>
            <a:endParaRPr/>
          </a:p>
        </p:txBody>
      </p:sp>
      <p:sp>
        <p:nvSpPr>
          <p:cNvPr id="487" name="Google Shape;487;p7"/>
          <p:cNvSpPr/>
          <p:nvPr/>
        </p:nvSpPr>
        <p:spPr>
          <a:xfrm>
            <a:off x="7223760" y="822960"/>
            <a:ext cx="2194560" cy="100584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7"/>
          <p:cNvSpPr txBox="1"/>
          <p:nvPr/>
        </p:nvSpPr>
        <p:spPr>
          <a:xfrm>
            <a:off x="7315200" y="9144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40%</a:t>
            </a:r>
            <a:endParaRPr/>
          </a:p>
        </p:txBody>
      </p:sp>
      <p:sp>
        <p:nvSpPr>
          <p:cNvPr id="489" name="Google Shape;489;p7"/>
          <p:cNvSpPr txBox="1"/>
          <p:nvPr/>
        </p:nvSpPr>
        <p:spPr>
          <a:xfrm>
            <a:off x="7315200" y="1481328"/>
            <a:ext cx="2011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Statements</a:t>
            </a: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 Coverage</a:t>
            </a:r>
            <a:endParaRPr/>
          </a:p>
        </p:txBody>
      </p:sp>
      <p:sp>
        <p:nvSpPr>
          <p:cNvPr id="490" name="Google Shape;490;p7"/>
          <p:cNvSpPr/>
          <p:nvPr/>
        </p:nvSpPr>
        <p:spPr>
          <a:xfrm>
            <a:off x="9509760" y="822960"/>
            <a:ext cx="2194560" cy="100584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"/>
          <p:cNvSpPr txBox="1"/>
          <p:nvPr/>
        </p:nvSpPr>
        <p:spPr>
          <a:xfrm>
            <a:off x="9601200" y="9144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33%</a:t>
            </a:r>
            <a:endParaRPr/>
          </a:p>
        </p:txBody>
      </p:sp>
      <p:sp>
        <p:nvSpPr>
          <p:cNvPr id="492" name="Google Shape;492;p7"/>
          <p:cNvSpPr txBox="1"/>
          <p:nvPr/>
        </p:nvSpPr>
        <p:spPr>
          <a:xfrm>
            <a:off x="9601200" y="14813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Branch Coverage</a:t>
            </a:r>
            <a:endParaRPr/>
          </a:p>
        </p:txBody>
      </p:sp>
      <p:sp>
        <p:nvSpPr>
          <p:cNvPr id="493" name="Google Shape;493;p7"/>
          <p:cNvSpPr/>
          <p:nvPr/>
        </p:nvSpPr>
        <p:spPr>
          <a:xfrm>
            <a:off x="548640" y="2029968"/>
            <a:ext cx="11064240" cy="18288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7"/>
          <p:cNvSpPr txBox="1"/>
          <p:nvPr/>
        </p:nvSpPr>
        <p:spPr>
          <a:xfrm>
            <a:off x="457200" y="2139696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BROKEN TEST SUITES (ESM/CJS CONFLICT)</a:t>
            </a:r>
            <a:endParaRPr/>
          </a:p>
        </p:txBody>
      </p:sp>
      <p:sp>
        <p:nvSpPr>
          <p:cNvPr id="495" name="Google Shape;495;p7"/>
          <p:cNvSpPr/>
          <p:nvPr/>
        </p:nvSpPr>
        <p:spPr>
          <a:xfrm>
            <a:off x="457200" y="2487177"/>
            <a:ext cx="5394900" cy="1645800"/>
          </a:xfrm>
          <a:prstGeom prst="rect">
            <a:avLst/>
          </a:prstGeom>
          <a:solidFill>
            <a:srgbClr val="0F1E38"/>
          </a:solidFill>
          <a:ln cap="flat" cmpd="sng" w="9525">
            <a:solidFill>
              <a:srgbClr val="007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7"/>
          <p:cNvSpPr txBox="1"/>
          <p:nvPr/>
        </p:nvSpPr>
        <p:spPr>
          <a:xfrm>
            <a:off x="594360" y="256032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E2E Suite (882 tests) — BROKEN</a:t>
            </a:r>
            <a:endParaRPr/>
          </a:p>
        </p:txBody>
      </p:sp>
      <p:sp>
        <p:nvSpPr>
          <p:cNvPr id="497" name="Google Shape;497;p7"/>
          <p:cNvSpPr txBox="1"/>
          <p:nvPr/>
        </p:nvSpPr>
        <p:spPr>
          <a:xfrm>
            <a:off x="594360" y="281635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get-port@7.1.0 is ESM-only. Playwright compiles to CJS so require('get-port') crashes.</a:t>
            </a:r>
            <a:b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Fix: pin to get-port@6.1.2 (last CJS version)</a:t>
            </a:r>
            <a:endParaRPr/>
          </a:p>
        </p:txBody>
      </p:sp>
      <p:sp>
        <p:nvSpPr>
          <p:cNvPr id="498" name="Google Shape;498;p7"/>
          <p:cNvSpPr txBox="1"/>
          <p:nvPr/>
        </p:nvSpPr>
        <p:spPr>
          <a:xfrm>
            <a:off x="594360" y="32735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Web Unit Suite (16 tests) — BROKEN</a:t>
            </a:r>
            <a:endParaRPr/>
          </a:p>
        </p:txBody>
      </p:sp>
      <p:sp>
        <p:nvSpPr>
          <p:cNvPr id="499" name="Google Shape;499;p7"/>
          <p:cNvSpPr txBox="1"/>
          <p:nvPr/>
        </p:nvSpPr>
        <p:spPr>
          <a:xfrm>
            <a:off x="594360" y="352958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jsdom → html-encoding-sniffer → @exodus/bytes (ESM-only) causes ERR_REQUIRE_ESM.</a:t>
            </a:r>
            <a:b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Fix: switch to happy-dom (no ESM conflicts, lighter, faster)</a:t>
            </a:r>
            <a:endParaRPr/>
          </a:p>
        </p:txBody>
      </p:sp>
      <p:sp>
        <p:nvSpPr>
          <p:cNvPr id="500" name="Google Shape;500;p7"/>
          <p:cNvSpPr txBox="1"/>
          <p:nvPr/>
        </p:nvSpPr>
        <p:spPr>
          <a:xfrm>
            <a:off x="5943600" y="2139696"/>
            <a:ext cx="5760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CRITICAL COVERAGE GAPS</a:t>
            </a:r>
            <a:endParaRPr/>
          </a:p>
        </p:txBody>
      </p:sp>
      <p:sp>
        <p:nvSpPr>
          <p:cNvPr id="501" name="Google Shape;501;p7"/>
          <p:cNvSpPr txBox="1"/>
          <p:nvPr/>
        </p:nvSpPr>
        <p:spPr>
          <a:xfrm>
            <a:off x="5943600" y="2487168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dashboard.ts</a:t>
            </a:r>
            <a:endParaRPr/>
          </a:p>
        </p:txBody>
      </p:sp>
      <p:sp>
        <p:nvSpPr>
          <p:cNvPr id="502" name="Google Shape;502;p7"/>
          <p:cNvSpPr txBox="1"/>
          <p:nvPr/>
        </p:nvSpPr>
        <p:spPr>
          <a:xfrm>
            <a:off x="8229600" y="2487168"/>
            <a:ext cx="64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1.98%</a:t>
            </a:r>
            <a:endParaRPr/>
          </a:p>
        </p:txBody>
      </p:sp>
      <p:sp>
        <p:nvSpPr>
          <p:cNvPr id="503" name="Google Shape;503;p7"/>
          <p:cNvSpPr txBox="1"/>
          <p:nvPr/>
        </p:nvSpPr>
        <p:spPr>
          <a:xfrm>
            <a:off x="8869680" y="2487168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my-work/my-week — fires on every login</a:t>
            </a:r>
            <a:endParaRPr/>
          </a:p>
        </p:txBody>
      </p:sp>
      <p:sp>
        <p:nvSpPr>
          <p:cNvPr id="504" name="Google Shape;504;p7"/>
          <p:cNvSpPr txBox="1"/>
          <p:nvPr/>
        </p:nvSpPr>
        <p:spPr>
          <a:xfrm>
            <a:off x="5943600" y="2816352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programs.ts</a:t>
            </a:r>
            <a:endParaRPr/>
          </a:p>
        </p:txBody>
      </p:sp>
      <p:sp>
        <p:nvSpPr>
          <p:cNvPr id="505" name="Google Shape;505;p7"/>
          <p:cNvSpPr txBox="1"/>
          <p:nvPr/>
        </p:nvSpPr>
        <p:spPr>
          <a:xfrm>
            <a:off x="8229600" y="2816352"/>
            <a:ext cx="64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5.05%</a:t>
            </a:r>
            <a:endParaRPr/>
          </a:p>
        </p:txBody>
      </p:sp>
      <p:sp>
        <p:nvSpPr>
          <p:cNvPr id="506" name="Google Shape;506;p7"/>
          <p:cNvSpPr txBox="1"/>
          <p:nvPr/>
        </p:nvSpPr>
        <p:spPr>
          <a:xfrm>
            <a:off x="8869680" y="2816352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Entire programs feature untested</a:t>
            </a:r>
            <a:endParaRPr/>
          </a:p>
        </p:txBody>
      </p:sp>
      <p:sp>
        <p:nvSpPr>
          <p:cNvPr id="507" name="Google Shape;507;p7"/>
          <p:cNvSpPr txBox="1"/>
          <p:nvPr/>
        </p:nvSpPr>
        <p:spPr>
          <a:xfrm>
            <a:off x="5943600" y="3145536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weekly-plans.ts</a:t>
            </a:r>
            <a:endParaRPr/>
          </a:p>
        </p:txBody>
      </p:sp>
      <p:sp>
        <p:nvSpPr>
          <p:cNvPr id="508" name="Google Shape;508;p7"/>
          <p:cNvSpPr txBox="1"/>
          <p:nvPr/>
        </p:nvSpPr>
        <p:spPr>
          <a:xfrm>
            <a:off x="8229600" y="3145536"/>
            <a:ext cx="64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4.80%</a:t>
            </a:r>
            <a:endParaRPr/>
          </a:p>
        </p:txBody>
      </p:sp>
      <p:sp>
        <p:nvSpPr>
          <p:cNvPr id="509" name="Google Shape;509;p7"/>
          <p:cNvSpPr txBox="1"/>
          <p:nvPr/>
        </p:nvSpPr>
        <p:spPr>
          <a:xfrm>
            <a:off x="8869680" y="3145536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Sprint planning has near-zero coverage</a:t>
            </a:r>
            <a:endParaRPr/>
          </a:p>
        </p:txBody>
      </p:sp>
      <p:sp>
        <p:nvSpPr>
          <p:cNvPr id="510" name="Google Shape;510;p7"/>
          <p:cNvSpPr txBox="1"/>
          <p:nvPr/>
        </p:nvSpPr>
        <p:spPr>
          <a:xfrm>
            <a:off x="5943600" y="3474720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comments.ts</a:t>
            </a:r>
            <a:endParaRPr/>
          </a:p>
        </p:txBody>
      </p:sp>
      <p:sp>
        <p:nvSpPr>
          <p:cNvPr id="511" name="Google Shape;511;p7"/>
          <p:cNvSpPr txBox="1"/>
          <p:nvPr/>
        </p:nvSpPr>
        <p:spPr>
          <a:xfrm>
            <a:off x="8229600" y="3474720"/>
            <a:ext cx="64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8.98%</a:t>
            </a:r>
            <a:endParaRPr/>
          </a:p>
        </p:txBody>
      </p:sp>
      <p:sp>
        <p:nvSpPr>
          <p:cNvPr id="512" name="Google Shape;512;p7"/>
          <p:cNvSpPr txBox="1"/>
          <p:nvPr/>
        </p:nvSpPr>
        <p:spPr>
          <a:xfrm>
            <a:off x="8869680" y="3474720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Added in migration 035, never tested</a:t>
            </a:r>
            <a:endParaRPr/>
          </a:p>
        </p:txBody>
      </p:sp>
      <p:sp>
        <p:nvSpPr>
          <p:cNvPr id="513" name="Google Shape;513;p7"/>
          <p:cNvSpPr txBox="1"/>
          <p:nvPr/>
        </p:nvSpPr>
        <p:spPr>
          <a:xfrm>
            <a:off x="5943600" y="3803904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collaboration/index.ts</a:t>
            </a:r>
            <a:endParaRPr/>
          </a:p>
        </p:txBody>
      </p:sp>
      <p:sp>
        <p:nvSpPr>
          <p:cNvPr id="514" name="Google Shape;514;p7"/>
          <p:cNvSpPr txBox="1"/>
          <p:nvPr/>
        </p:nvSpPr>
        <p:spPr>
          <a:xfrm>
            <a:off x="8229600" y="3803904"/>
            <a:ext cx="64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8.53%</a:t>
            </a:r>
            <a:endParaRPr/>
          </a:p>
        </p:txBody>
      </p:sp>
      <p:sp>
        <p:nvSpPr>
          <p:cNvPr id="515" name="Google Shape;515;p7"/>
          <p:cNvSpPr txBox="1"/>
          <p:nvPr/>
        </p:nvSpPr>
        <p:spPr>
          <a:xfrm>
            <a:off x="8869680" y="3803904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Entire Yjs WebSocket engine — most critical runtime component</a:t>
            </a:r>
            <a:endParaRPr/>
          </a:p>
        </p:txBody>
      </p:sp>
      <p:sp>
        <p:nvSpPr>
          <p:cNvPr id="516" name="Google Shape;516;p7"/>
          <p:cNvSpPr txBox="1"/>
          <p:nvPr/>
        </p:nvSpPr>
        <p:spPr>
          <a:xfrm>
            <a:off x="5943600" y="4133088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invite-acceptance.ts</a:t>
            </a:r>
            <a:endParaRPr/>
          </a:p>
        </p:txBody>
      </p:sp>
      <p:sp>
        <p:nvSpPr>
          <p:cNvPr id="517" name="Google Shape;517;p7"/>
          <p:cNvSpPr txBox="1"/>
          <p:nvPr/>
        </p:nvSpPr>
        <p:spPr>
          <a:xfrm>
            <a:off x="8229600" y="4133088"/>
            <a:ext cx="64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/>
          </a:p>
        </p:txBody>
      </p:sp>
      <p:sp>
        <p:nvSpPr>
          <p:cNvPr id="518" name="Google Shape;518;p7"/>
          <p:cNvSpPr txBox="1"/>
          <p:nvPr/>
        </p:nvSpPr>
        <p:spPr>
          <a:xfrm>
            <a:off x="8869680" y="4133088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E90"/>
                </a:solidFill>
                <a:latin typeface="Calibri"/>
                <a:ea typeface="Calibri"/>
                <a:cs typeface="Calibri"/>
                <a:sym typeface="Calibri"/>
              </a:rPr>
              <a:t>Invite flow has zero coverage</a:t>
            </a:r>
            <a:endParaRPr/>
          </a:p>
        </p:txBody>
      </p:sp>
      <p:sp>
        <p:nvSpPr>
          <p:cNvPr id="519" name="Google Shape;519;p7"/>
          <p:cNvSpPr/>
          <p:nvPr/>
        </p:nvSpPr>
        <p:spPr>
          <a:xfrm>
            <a:off x="548640" y="5212080"/>
            <a:ext cx="11064240" cy="18288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7"/>
          <p:cNvSpPr txBox="1"/>
          <p:nvPr/>
        </p:nvSpPr>
        <p:spPr>
          <a:xfrm>
            <a:off x="457200" y="5303520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TARGET: Fix 3 broken test suites + add tests for 3 critical untested paths</a:t>
            </a:r>
            <a:endParaRPr/>
          </a:p>
        </p:txBody>
      </p:sp>
      <p:sp>
        <p:nvSpPr>
          <p:cNvPr id="521" name="Google Shape;521;p7"/>
          <p:cNvSpPr txBox="1"/>
          <p:nvPr/>
        </p:nvSpPr>
        <p:spPr>
          <a:xfrm>
            <a:off x="457200" y="56692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CAIA/PIV government auth paths are skipped in ALL 28 test suites — zero coverage of the actual production auth mechanism</a:t>
            </a:r>
            <a:endParaRPr/>
          </a:p>
        </p:txBody>
      </p:sp>
      <p:sp>
        <p:nvSpPr>
          <p:cNvPr id="522" name="Google Shape;522;p7"/>
          <p:cNvSpPr txBox="1"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Two thirds of conditional logic (if/else branches) has never been exercised by any test — 33% branch coverage is the most dangerous metric here</a:t>
            </a:r>
            <a:endParaRPr/>
          </a:p>
        </p:txBody>
      </p:sp>
      <p:sp>
        <p:nvSpPr>
          <p:cNvPr id="523" name="Google Shape;523;p7"/>
          <p:cNvSpPr txBox="1"/>
          <p:nvPr/>
        </p:nvSpPr>
        <p:spPr>
          <a:xfrm>
            <a:off x="5943600" y="4393913"/>
            <a:ext cx="228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All frontend web/</a:t>
            </a:r>
            <a:endParaRPr/>
          </a:p>
        </p:txBody>
      </p:sp>
      <p:sp>
        <p:nvSpPr>
          <p:cNvPr id="524" name="Google Shape;524;p7"/>
          <p:cNvSpPr txBox="1"/>
          <p:nvPr/>
        </p:nvSpPr>
        <p:spPr>
          <a:xfrm>
            <a:off x="8229600" y="4393913"/>
            <a:ext cx="64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/>
          </a:p>
        </p:txBody>
      </p:sp>
      <p:sp>
        <p:nvSpPr>
          <p:cNvPr id="525" name="Google Shape;525;p7"/>
          <p:cNvSpPr txBox="1"/>
          <p:nvPr/>
        </p:nvSpPr>
        <p:spPr>
          <a:xfrm>
            <a:off x="5943600" y="4677388"/>
            <a:ext cx="228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E2E flows</a:t>
            </a:r>
            <a:endParaRPr/>
          </a:p>
        </p:txBody>
      </p:sp>
      <p:sp>
        <p:nvSpPr>
          <p:cNvPr id="526" name="Google Shape;526;p7"/>
          <p:cNvSpPr txBox="1"/>
          <p:nvPr/>
        </p:nvSpPr>
        <p:spPr>
          <a:xfrm>
            <a:off x="8229600" y="4677388"/>
            <a:ext cx="64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8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8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CATEGORY 6  —  RUNTIME ERROR HANDLING</a:t>
            </a:r>
            <a:endParaRPr/>
          </a:p>
        </p:txBody>
      </p:sp>
      <p:sp>
        <p:nvSpPr>
          <p:cNvPr id="533" name="Google Shape;533;p8"/>
          <p:cNvSpPr txBox="1"/>
          <p:nvPr/>
        </p:nvSpPr>
        <p:spPr>
          <a:xfrm>
            <a:off x="457200" y="82296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CONSOLE ERRORS (NORMAL USAGE)</a:t>
            </a:r>
            <a:endParaRPr/>
          </a:p>
        </p:txBody>
      </p:sp>
      <p:sp>
        <p:nvSpPr>
          <p:cNvPr id="534" name="Google Shape;534;p8"/>
          <p:cNvSpPr txBox="1"/>
          <p:nvPr/>
        </p:nvSpPr>
        <p:spPr>
          <a:xfrm>
            <a:off x="457200" y="117043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535" name="Google Shape;535;p8"/>
          <p:cNvSpPr txBox="1"/>
          <p:nvPr/>
        </p:nvSpPr>
        <p:spPr>
          <a:xfrm>
            <a:off x="685800" y="1170432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Switching between docs quickly → 429 Too Many Requests (WebSocket rate limit: 30 conn/min/IP; each doc = 2 connections)</a:t>
            </a:r>
            <a:endParaRPr/>
          </a:p>
        </p:txBody>
      </p:sp>
      <p:sp>
        <p:nvSpPr>
          <p:cNvPr id="536" name="Google Shape;536;p8"/>
          <p:cNvSpPr txBox="1"/>
          <p:nvPr/>
        </p:nvSpPr>
        <p:spPr>
          <a:xfrm>
            <a:off x="457200" y="158191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537" name="Google Shape;537;p8"/>
          <p:cNvSpPr txBox="1"/>
          <p:nvPr/>
        </p:nvSpPr>
        <p:spPr>
          <a:xfrm>
            <a:off x="685800" y="1581912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Fast typing with cursor movement → 429 Too Many Requests (message rate limit: 50 msg/sec — Yjs updates + awareness broadcasts burst above this)</a:t>
            </a:r>
            <a:endParaRPr/>
          </a:p>
        </p:txBody>
      </p:sp>
      <p:sp>
        <p:nvSpPr>
          <p:cNvPr id="538" name="Google Shape;538;p8"/>
          <p:cNvSpPr txBox="1"/>
          <p:nvPr/>
        </p:nvSpPr>
        <p:spPr>
          <a:xfrm>
            <a:off x="457200" y="199339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539" name="Google Shape;539;p8"/>
          <p:cNvSpPr txBox="1"/>
          <p:nvPr/>
        </p:nvSpPr>
        <p:spPr>
          <a:xfrm>
            <a:off x="685800" y="1993392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Random connection failures on specific doc IDs (non-reproducible)</a:t>
            </a:r>
            <a:endParaRPr/>
          </a:p>
        </p:txBody>
      </p:sp>
      <p:sp>
        <p:nvSpPr>
          <p:cNvPr id="540" name="Google Shape;540;p8"/>
          <p:cNvSpPr txBox="1"/>
          <p:nvPr/>
        </p:nvSpPr>
        <p:spPr>
          <a:xfrm>
            <a:off x="6126480" y="822960"/>
            <a:ext cx="5760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MISSING ERROR BOUNDARIES</a:t>
            </a:r>
            <a:endParaRPr/>
          </a:p>
        </p:txBody>
      </p:sp>
      <p:sp>
        <p:nvSpPr>
          <p:cNvPr id="541" name="Google Shape;541;p8"/>
          <p:cNvSpPr txBox="1"/>
          <p:nvPr/>
        </p:nvSpPr>
        <p:spPr>
          <a:xfrm>
            <a:off x="6126480" y="117043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542" name="Google Shape;542;p8"/>
          <p:cNvSpPr txBox="1"/>
          <p:nvPr/>
        </p:nvSpPr>
        <p:spPr>
          <a:xfrm>
            <a:off x="6355080" y="1170432"/>
            <a:ext cx="5532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main.tsx — no root ErrorBoundary: provider throws = white screen</a:t>
            </a:r>
            <a:endParaRPr/>
          </a:p>
        </p:txBody>
      </p:sp>
      <p:sp>
        <p:nvSpPr>
          <p:cNvPr id="543" name="Google Shape;543;p8"/>
          <p:cNvSpPr txBox="1"/>
          <p:nvPr/>
        </p:nvSpPr>
        <p:spPr>
          <a:xfrm>
            <a:off x="6126480" y="158191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544" name="Google Shape;544;p8"/>
          <p:cNvSpPr txBox="1"/>
          <p:nvPr/>
        </p:nvSpPr>
        <p:spPr>
          <a:xfrm>
            <a:off x="6355080" y="1581912"/>
            <a:ext cx="5532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App.tsx — only wraps &lt;Outlet/&gt;, sidebar + nav unprotected</a:t>
            </a:r>
            <a:endParaRPr/>
          </a:p>
        </p:txBody>
      </p:sp>
      <p:sp>
        <p:nvSpPr>
          <p:cNvPr id="545" name="Google Shape;545;p8"/>
          <p:cNvSpPr txBox="1"/>
          <p:nvPr/>
        </p:nvSpPr>
        <p:spPr>
          <a:xfrm>
            <a:off x="6126480" y="199339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546" name="Google Shape;546;p8"/>
          <p:cNvSpPr txBox="1"/>
          <p:nvPr/>
        </p:nvSpPr>
        <p:spPr>
          <a:xfrm>
            <a:off x="6355080" y="1993392"/>
            <a:ext cx="5532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Tab components — &lt;Suspense&gt; without &lt;ErrorBoundary&gt;; tab error crashes whole page</a:t>
            </a:r>
            <a:endParaRPr/>
          </a:p>
        </p:txBody>
      </p:sp>
      <p:sp>
        <p:nvSpPr>
          <p:cNvPr id="547" name="Google Shape;547;p8"/>
          <p:cNvSpPr txBox="1"/>
          <p:nvPr/>
        </p:nvSpPr>
        <p:spPr>
          <a:xfrm>
            <a:off x="6126480" y="240487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548" name="Google Shape;548;p8"/>
          <p:cNvSpPr txBox="1"/>
          <p:nvPr/>
        </p:nvSpPr>
        <p:spPr>
          <a:xfrm>
            <a:off x="6355080" y="2404872"/>
            <a:ext cx="5532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Context providers — no boundaries around consumers</a:t>
            </a:r>
            <a:endParaRPr/>
          </a:p>
        </p:txBody>
      </p:sp>
      <p:sp>
        <p:nvSpPr>
          <p:cNvPr id="549" name="Google Shape;549;p8"/>
          <p:cNvSpPr/>
          <p:nvPr/>
        </p:nvSpPr>
        <p:spPr>
          <a:xfrm>
            <a:off x="548640" y="3108960"/>
            <a:ext cx="11064240" cy="18288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8"/>
          <p:cNvSpPr txBox="1"/>
          <p:nvPr/>
        </p:nvSpPr>
        <p:spPr>
          <a:xfrm>
            <a:off x="457200" y="32004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SILENT FAILURES  (DATA LOSS RISK)</a:t>
            </a:r>
            <a:endParaRPr/>
          </a:p>
        </p:txBody>
      </p:sp>
      <p:sp>
        <p:nvSpPr>
          <p:cNvPr id="551" name="Google Shape;551;p8"/>
          <p:cNvSpPr/>
          <p:nvPr/>
        </p:nvSpPr>
        <p:spPr>
          <a:xfrm>
            <a:off x="457200" y="3547872"/>
            <a:ext cx="73152" cy="256032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8"/>
          <p:cNvSpPr txBox="1"/>
          <p:nvPr/>
        </p:nvSpPr>
        <p:spPr>
          <a:xfrm>
            <a:off x="640080" y="354787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Tab query errors swallowed</a:t>
            </a:r>
            <a:endParaRPr/>
          </a:p>
        </p:txBody>
      </p:sp>
      <p:sp>
        <p:nvSpPr>
          <p:cNvPr id="553" name="Google Shape;553;p8"/>
          <p:cNvSpPr txBox="1"/>
          <p:nvPr/>
        </p:nvSpPr>
        <p:spPr>
          <a:xfrm>
            <a:off x="3200400" y="3547872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ProgramProjectsTab.tsx, WeekReconciliation.tsx — offline shows empty list with no error message; user thinks there are no projects</a:t>
            </a:r>
            <a:endParaRPr/>
          </a:p>
        </p:txBody>
      </p:sp>
      <p:sp>
        <p:nvSpPr>
          <p:cNvPr id="554" name="Google Shape;554;p8"/>
          <p:cNvSpPr/>
          <p:nvPr/>
        </p:nvSpPr>
        <p:spPr>
          <a:xfrm>
            <a:off x="457200" y="3895344"/>
            <a:ext cx="73152" cy="256032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8"/>
          <p:cNvSpPr txBox="1"/>
          <p:nvPr/>
        </p:nvSpPr>
        <p:spPr>
          <a:xfrm>
            <a:off x="640080" y="389534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WebSocket ws.send() failures</a:t>
            </a:r>
            <a:endParaRPr/>
          </a:p>
        </p:txBody>
      </p:sp>
      <p:sp>
        <p:nvSpPr>
          <p:cNvPr id="556" name="Google Shape;556;p8"/>
          <p:cNvSpPr txBox="1"/>
          <p:nvPr/>
        </p:nvSpPr>
        <p:spPr>
          <a:xfrm>
            <a:off x="3200400" y="3895344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broadcastToUser() has no catch on ws.send() — broadcast silently dropped for disconnected users</a:t>
            </a:r>
            <a:endParaRPr/>
          </a:p>
        </p:txBody>
      </p:sp>
      <p:sp>
        <p:nvSpPr>
          <p:cNvPr id="557" name="Google Shape;557;p8"/>
          <p:cNvSpPr/>
          <p:nvPr/>
        </p:nvSpPr>
        <p:spPr>
          <a:xfrm>
            <a:off x="457200" y="4242816"/>
            <a:ext cx="73152" cy="256032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8"/>
          <p:cNvSpPr txBox="1"/>
          <p:nvPr/>
        </p:nvSpPr>
        <p:spPr>
          <a:xfrm>
            <a:off x="640080" y="424281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Document persistence failure</a:t>
            </a:r>
            <a:endParaRPr/>
          </a:p>
        </p:txBody>
      </p:sp>
      <p:sp>
        <p:nvSpPr>
          <p:cNvPr id="559" name="Google Shape;559;p8"/>
          <p:cNvSpPr txBox="1"/>
          <p:nvPr/>
        </p:nvSpPr>
        <p:spPr>
          <a:xfrm>
            <a:off x="3200400" y="4242816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persistDocument() fails after PostgreSQL restart → logs to console only → after 30s doc unloads from memory → EDITS LOST PERMANENTLY</a:t>
            </a:r>
            <a:endParaRPr/>
          </a:p>
        </p:txBody>
      </p:sp>
      <p:sp>
        <p:nvSpPr>
          <p:cNvPr id="560" name="Google Shape;560;p8"/>
          <p:cNvSpPr/>
          <p:nvPr/>
        </p:nvSpPr>
        <p:spPr>
          <a:xfrm>
            <a:off x="457200" y="4590288"/>
            <a:ext cx="73152" cy="256032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8"/>
          <p:cNvSpPr txBox="1"/>
          <p:nvPr/>
        </p:nvSpPr>
        <p:spPr>
          <a:xfrm>
            <a:off x="640080" y="459028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parseInt NaN in SQL</a:t>
            </a:r>
            <a:endParaRPr/>
          </a:p>
        </p:txBody>
      </p:sp>
      <p:sp>
        <p:nvSpPr>
          <p:cNvPr id="562" name="Google Shape;562;p8"/>
          <p:cNvSpPr txBox="1"/>
          <p:nvPr/>
        </p:nvSpPr>
        <p:spPr>
          <a:xfrm>
            <a:off x="3200400" y="459028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GET /api/admin/audit-logs?limit=abc → parseInt returns NaN → NaN passed to LIMIT in PostgreSQL</a:t>
            </a:r>
            <a:endParaRPr/>
          </a:p>
        </p:txBody>
      </p:sp>
      <p:sp>
        <p:nvSpPr>
          <p:cNvPr id="563" name="Google Shape;563;p8"/>
          <p:cNvSpPr/>
          <p:nvPr/>
        </p:nvSpPr>
        <p:spPr>
          <a:xfrm>
            <a:off x="457200" y="4937759"/>
            <a:ext cx="73152" cy="256032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8"/>
          <p:cNvSpPr txBox="1"/>
          <p:nvPr/>
        </p:nvSpPr>
        <p:spPr>
          <a:xfrm>
            <a:off x="640080" y="4937759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Title field no maxLength</a:t>
            </a:r>
            <a:endParaRPr/>
          </a:p>
        </p:txBody>
      </p:sp>
      <p:sp>
        <p:nvSpPr>
          <p:cNvPr id="565" name="Google Shape;565;p8"/>
          <p:cNvSpPr txBox="1"/>
          <p:nvPr/>
        </p:nvSpPr>
        <p:spPr>
          <a:xfrm>
            <a:off x="3200400" y="4937759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Paste 10,000 chars into title → backend rejects at 255 chars → no client-side feedback</a:t>
            </a:r>
            <a:endParaRPr/>
          </a:p>
        </p:txBody>
      </p:sp>
      <p:sp>
        <p:nvSpPr>
          <p:cNvPr id="566" name="Google Shape;566;p8"/>
          <p:cNvSpPr/>
          <p:nvPr/>
        </p:nvSpPr>
        <p:spPr>
          <a:xfrm>
            <a:off x="457200" y="5285231"/>
            <a:ext cx="73152" cy="256032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8"/>
          <p:cNvSpPr txBox="1"/>
          <p:nvPr/>
        </p:nvSpPr>
        <p:spPr>
          <a:xfrm>
            <a:off x="640080" y="5285231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Session extend on network blip</a:t>
            </a:r>
            <a:endParaRPr/>
          </a:p>
        </p:txBody>
      </p:sp>
      <p:sp>
        <p:nvSpPr>
          <p:cNvPr id="568" name="Google Shape;568;p8"/>
          <p:cNvSpPr txBox="1"/>
          <p:nvPr/>
        </p:nvSpPr>
        <p:spPr>
          <a:xfrm>
            <a:off x="3200400" y="5285231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extend-session fetch fails while offline → immediate forced logout with no retry</a:t>
            </a:r>
            <a:endParaRPr/>
          </a:p>
        </p:txBody>
      </p:sp>
      <p:sp>
        <p:nvSpPr>
          <p:cNvPr id="569" name="Google Shape;569;p8"/>
          <p:cNvSpPr txBox="1"/>
          <p:nvPr/>
        </p:nvSpPr>
        <p:spPr>
          <a:xfrm>
            <a:off x="457200" y="6108192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UNHANDLED REJECTIONS: No process.on('unhandledRejection'), no pool.on('error'), no global Express error middleware — crashed process, no logging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9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CATEGORY 7  —  ACCESSIBILITY  (WCAG 2.1 AA / SECTION 508)</a:t>
            </a:r>
            <a:endParaRPr/>
          </a:p>
        </p:txBody>
      </p:sp>
      <p:sp>
        <p:nvSpPr>
          <p:cNvPr id="576" name="Google Shape;576;p9"/>
          <p:cNvSpPr txBox="1"/>
          <p:nvPr/>
        </p:nvSpPr>
        <p:spPr>
          <a:xfrm>
            <a:off x="457200" y="8046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LIGHTHOUSE SCORES</a:t>
            </a:r>
            <a:endParaRPr/>
          </a:p>
        </p:txBody>
      </p:sp>
      <p:sp>
        <p:nvSpPr>
          <p:cNvPr id="577" name="Google Shape;577;p9"/>
          <p:cNvSpPr/>
          <p:nvPr/>
        </p:nvSpPr>
        <p:spPr>
          <a:xfrm>
            <a:off x="457200" y="1115568"/>
            <a:ext cx="594360" cy="329184"/>
          </a:xfrm>
          <a:prstGeom prst="rect">
            <a:avLst/>
          </a:prstGeom>
          <a:solidFill>
            <a:srgbClr val="00E09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9"/>
          <p:cNvSpPr txBox="1"/>
          <p:nvPr/>
        </p:nvSpPr>
        <p:spPr>
          <a:xfrm>
            <a:off x="457200" y="1133856"/>
            <a:ext cx="594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sp>
        <p:nvSpPr>
          <p:cNvPr id="579" name="Google Shape;579;p9"/>
          <p:cNvSpPr txBox="1"/>
          <p:nvPr/>
        </p:nvSpPr>
        <p:spPr>
          <a:xfrm>
            <a:off x="1097280" y="11704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/docs, /programs, /team/directory, /team/:id, /team/org-chart, /settings/conversions, /settings?tab=audit</a:t>
            </a:r>
            <a:endParaRPr/>
          </a:p>
        </p:txBody>
      </p:sp>
      <p:sp>
        <p:nvSpPr>
          <p:cNvPr id="580" name="Google Shape;580;p9"/>
          <p:cNvSpPr/>
          <p:nvPr/>
        </p:nvSpPr>
        <p:spPr>
          <a:xfrm>
            <a:off x="457200" y="1517904"/>
            <a:ext cx="594360" cy="329184"/>
          </a:xfrm>
          <a:prstGeom prst="rect">
            <a:avLst/>
          </a:prstGeom>
          <a:solidFill>
            <a:srgbClr val="00C2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9"/>
          <p:cNvSpPr txBox="1"/>
          <p:nvPr/>
        </p:nvSpPr>
        <p:spPr>
          <a:xfrm>
            <a:off x="457200" y="1536192"/>
            <a:ext cx="594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endParaRPr/>
          </a:p>
        </p:txBody>
      </p:sp>
      <p:sp>
        <p:nvSpPr>
          <p:cNvPr id="582" name="Google Shape;582;p9"/>
          <p:cNvSpPr txBox="1"/>
          <p:nvPr/>
        </p:nvSpPr>
        <p:spPr>
          <a:xfrm>
            <a:off x="1097280" y="157276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/my-week, /projects, /team/allocation, /team/status, /team/reviews</a:t>
            </a:r>
            <a:endParaRPr/>
          </a:p>
        </p:txBody>
      </p:sp>
      <p:sp>
        <p:nvSpPr>
          <p:cNvPr id="583" name="Google Shape;583;p9"/>
          <p:cNvSpPr/>
          <p:nvPr/>
        </p:nvSpPr>
        <p:spPr>
          <a:xfrm>
            <a:off x="457200" y="1920240"/>
            <a:ext cx="594360" cy="329184"/>
          </a:xfrm>
          <a:prstGeom prst="rect">
            <a:avLst/>
          </a:prstGeom>
          <a:solidFill>
            <a:srgbClr val="00C2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9"/>
          <p:cNvSpPr txBox="1"/>
          <p:nvPr/>
        </p:nvSpPr>
        <p:spPr>
          <a:xfrm>
            <a:off x="457200" y="1938528"/>
            <a:ext cx="594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95</a:t>
            </a:r>
            <a:endParaRPr/>
          </a:p>
        </p:txBody>
      </p:sp>
      <p:sp>
        <p:nvSpPr>
          <p:cNvPr id="585" name="Google Shape;585;p9"/>
          <p:cNvSpPr txBox="1"/>
          <p:nvPr/>
        </p:nvSpPr>
        <p:spPr>
          <a:xfrm>
            <a:off x="1097280" y="197510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/docs/:id (selected), /docs/:id/issues, /settings</a:t>
            </a:r>
            <a:endParaRPr/>
          </a:p>
        </p:txBody>
      </p:sp>
      <p:sp>
        <p:nvSpPr>
          <p:cNvPr id="586" name="Google Shape;586;p9"/>
          <p:cNvSpPr/>
          <p:nvPr/>
        </p:nvSpPr>
        <p:spPr>
          <a:xfrm>
            <a:off x="457200" y="2322576"/>
            <a:ext cx="594360" cy="329184"/>
          </a:xfrm>
          <a:prstGeom prst="rect">
            <a:avLst/>
          </a:prstGeom>
          <a:solidFill>
            <a:srgbClr val="FFB8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9"/>
          <p:cNvSpPr txBox="1"/>
          <p:nvPr/>
        </p:nvSpPr>
        <p:spPr>
          <a:xfrm>
            <a:off x="457200" y="2340864"/>
            <a:ext cx="594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94</a:t>
            </a:r>
            <a:endParaRPr/>
          </a:p>
        </p:txBody>
      </p:sp>
      <p:sp>
        <p:nvSpPr>
          <p:cNvPr id="588" name="Google Shape;588;p9"/>
          <p:cNvSpPr txBox="1"/>
          <p:nvPr/>
        </p:nvSpPr>
        <p:spPr>
          <a:xfrm>
            <a:off x="1097280" y="23774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/docs/:id (program), /settings?tab=invites</a:t>
            </a:r>
            <a:endParaRPr/>
          </a:p>
        </p:txBody>
      </p:sp>
      <p:sp>
        <p:nvSpPr>
          <p:cNvPr id="589" name="Google Shape;589;p9"/>
          <p:cNvSpPr/>
          <p:nvPr/>
        </p:nvSpPr>
        <p:spPr>
          <a:xfrm>
            <a:off x="457200" y="2724912"/>
            <a:ext cx="594360" cy="329184"/>
          </a:xfrm>
          <a:prstGeom prst="rect">
            <a:avLst/>
          </a:prstGeom>
          <a:solidFill>
            <a:srgbClr val="FFB8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9"/>
          <p:cNvSpPr txBox="1"/>
          <p:nvPr/>
        </p:nvSpPr>
        <p:spPr>
          <a:xfrm>
            <a:off x="457200" y="2743200"/>
            <a:ext cx="594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93</a:t>
            </a:r>
            <a:endParaRPr/>
          </a:p>
        </p:txBody>
      </p:sp>
      <p:sp>
        <p:nvSpPr>
          <p:cNvPr id="591" name="Google Shape;591;p9"/>
          <p:cNvSpPr txBox="1"/>
          <p:nvPr/>
        </p:nvSpPr>
        <p:spPr>
          <a:xfrm>
            <a:off x="1097280" y="277977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/settings?tab=tokens</a:t>
            </a:r>
            <a:endParaRPr/>
          </a:p>
        </p:txBody>
      </p:sp>
      <p:sp>
        <p:nvSpPr>
          <p:cNvPr id="592" name="Google Shape;592;p9"/>
          <p:cNvSpPr/>
          <p:nvPr/>
        </p:nvSpPr>
        <p:spPr>
          <a:xfrm>
            <a:off x="457200" y="3127248"/>
            <a:ext cx="594360" cy="329184"/>
          </a:xfrm>
          <a:prstGeom prst="rect">
            <a:avLst/>
          </a:prstGeom>
          <a:solidFill>
            <a:srgbClr val="FFB8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9"/>
          <p:cNvSpPr txBox="1"/>
          <p:nvPr/>
        </p:nvSpPr>
        <p:spPr>
          <a:xfrm>
            <a:off x="457200" y="3145536"/>
            <a:ext cx="594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92</a:t>
            </a:r>
            <a:endParaRPr/>
          </a:p>
        </p:txBody>
      </p:sp>
      <p:sp>
        <p:nvSpPr>
          <p:cNvPr id="594" name="Google Shape;594;p9"/>
          <p:cNvSpPr txBox="1"/>
          <p:nvPr/>
        </p:nvSpPr>
        <p:spPr>
          <a:xfrm>
            <a:off x="1097280" y="318211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/docs/:id/details, /docs/:id/retro</a:t>
            </a:r>
            <a:endParaRPr/>
          </a:p>
        </p:txBody>
      </p:sp>
      <p:sp>
        <p:nvSpPr>
          <p:cNvPr id="595" name="Google Shape;595;p9"/>
          <p:cNvSpPr/>
          <p:nvPr/>
        </p:nvSpPr>
        <p:spPr>
          <a:xfrm>
            <a:off x="457200" y="3529584"/>
            <a:ext cx="594360" cy="329184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9"/>
          <p:cNvSpPr txBox="1"/>
          <p:nvPr/>
        </p:nvSpPr>
        <p:spPr>
          <a:xfrm>
            <a:off x="457200" y="3547872"/>
            <a:ext cx="594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91</a:t>
            </a:r>
            <a:endParaRPr/>
          </a:p>
        </p:txBody>
      </p:sp>
      <p:sp>
        <p:nvSpPr>
          <p:cNvPr id="597" name="Google Shape;597;p9"/>
          <p:cNvSpPr txBox="1"/>
          <p:nvPr/>
        </p:nvSpPr>
        <p:spPr>
          <a:xfrm>
            <a:off x="1097280" y="358444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/docs/:id/projects, /docs/:id/weeks (multiple)</a:t>
            </a:r>
            <a:endParaRPr/>
          </a:p>
        </p:txBody>
      </p:sp>
      <p:sp>
        <p:nvSpPr>
          <p:cNvPr id="598" name="Google Shape;598;p9"/>
          <p:cNvSpPr txBox="1"/>
          <p:nvPr/>
        </p:nvSpPr>
        <p:spPr>
          <a:xfrm>
            <a:off x="5120640" y="80467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CRITICAL VIOLATIONS</a:t>
            </a:r>
            <a:endParaRPr/>
          </a:p>
        </p:txBody>
      </p:sp>
      <p:sp>
        <p:nvSpPr>
          <p:cNvPr id="599" name="Google Shape;599;p9"/>
          <p:cNvSpPr txBox="1"/>
          <p:nvPr/>
        </p:nvSpPr>
        <p:spPr>
          <a:xfrm>
            <a:off x="5120640" y="111556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600" name="Google Shape;600;p9"/>
          <p:cNvSpPr txBox="1"/>
          <p:nvPr/>
        </p:nvSpPr>
        <p:spPr>
          <a:xfrm>
            <a:off x="5349240" y="111556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Editor title placeholder: contrast ratio ~1.6:1 (requires 4.5:1)</a:t>
            </a:r>
            <a:endParaRPr/>
          </a:p>
        </p:txBody>
      </p:sp>
      <p:sp>
        <p:nvSpPr>
          <p:cNvPr id="601" name="Google Shape;601;p9"/>
          <p:cNvSpPr txBox="1"/>
          <p:nvPr/>
        </p:nvSpPr>
        <p:spPr>
          <a:xfrm>
            <a:off x="5120640" y="146304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602" name="Google Shape;602;p9"/>
          <p:cNvSpPr txBox="1"/>
          <p:nvPr/>
        </p:nvSpPr>
        <p:spPr>
          <a:xfrm>
            <a:off x="5349240" y="146304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No root ErrorBoundary — provider error = white screen, no recovery path</a:t>
            </a:r>
            <a:endParaRPr/>
          </a:p>
        </p:txBody>
      </p:sp>
      <p:sp>
        <p:nvSpPr>
          <p:cNvPr id="603" name="Google Shape;603;p9"/>
          <p:cNvSpPr txBox="1"/>
          <p:nvPr/>
        </p:nvSpPr>
        <p:spPr>
          <a:xfrm>
            <a:off x="5120640" y="19202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SERIOUS VIOLATIONS</a:t>
            </a:r>
            <a:endParaRPr/>
          </a:p>
        </p:txBody>
      </p:sp>
      <p:sp>
        <p:nvSpPr>
          <p:cNvPr id="604" name="Google Shape;604;p9"/>
          <p:cNvSpPr txBox="1"/>
          <p:nvPr/>
        </p:nvSpPr>
        <p:spPr>
          <a:xfrm>
            <a:off x="5120640" y="226771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605" name="Google Shape;605;p9"/>
          <p:cNvSpPr txBox="1"/>
          <p:nvPr/>
        </p:nvSpPr>
        <p:spPr>
          <a:xfrm>
            <a:off x="5349240" y="2267712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BacklogPickerModal, MultiAssociationChips, CommandPalette — missing aria-label on search inputs</a:t>
            </a:r>
            <a:endParaRPr/>
          </a:p>
        </p:txBody>
      </p:sp>
      <p:sp>
        <p:nvSpPr>
          <p:cNvPr id="606" name="Google Shape;606;p9"/>
          <p:cNvSpPr txBox="1"/>
          <p:nvPr/>
        </p:nvSpPr>
        <p:spPr>
          <a:xfrm>
            <a:off x="5120640" y="2615184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607" name="Google Shape;607;p9"/>
          <p:cNvSpPr txBox="1"/>
          <p:nvPr/>
        </p:nvSpPr>
        <p:spPr>
          <a:xfrm>
            <a:off x="5349240" y="2615184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EmojiPicker trigger button has no aria-label</a:t>
            </a:r>
            <a:endParaRPr/>
          </a:p>
        </p:txBody>
      </p:sp>
      <p:sp>
        <p:nvSpPr>
          <p:cNvPr id="608" name="Google Shape;608;p9"/>
          <p:cNvSpPr txBox="1"/>
          <p:nvPr/>
        </p:nvSpPr>
        <p:spPr>
          <a:xfrm>
            <a:off x="5120640" y="2962656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609" name="Google Shape;609;p9"/>
          <p:cNvSpPr txBox="1"/>
          <p:nvPr/>
        </p:nvSpPr>
        <p:spPr>
          <a:xfrm>
            <a:off x="5349240" y="2962656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TabBar has no ArrowLeft/ArrowRight keyboard navigation (WCAG tab pattern)</a:t>
            </a:r>
            <a:endParaRPr/>
          </a:p>
        </p:txBody>
      </p:sp>
      <p:sp>
        <p:nvSpPr>
          <p:cNvPr id="610" name="Google Shape;610;p9"/>
          <p:cNvSpPr txBox="1"/>
          <p:nvPr/>
        </p:nvSpPr>
        <p:spPr>
          <a:xfrm>
            <a:off x="5120640" y="331012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611" name="Google Shape;611;p9"/>
          <p:cNvSpPr txBox="1"/>
          <p:nvPr/>
        </p:nvSpPr>
        <p:spPr>
          <a:xfrm>
            <a:off x="5349240" y="3310128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PropertyRow labels not associated with inputs via htmlFor/id</a:t>
            </a:r>
            <a:endParaRPr/>
          </a:p>
        </p:txBody>
      </p:sp>
      <p:sp>
        <p:nvSpPr>
          <p:cNvPr id="612" name="Google Shape;612;p9"/>
          <p:cNvSpPr txBox="1"/>
          <p:nvPr/>
        </p:nvSpPr>
        <p:spPr>
          <a:xfrm>
            <a:off x="5120640" y="365760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613" name="Google Shape;613;p9"/>
          <p:cNvSpPr txBox="1"/>
          <p:nvPr/>
        </p:nvSpPr>
        <p:spPr>
          <a:xfrm>
            <a:off x="5349240" y="365760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Decorative SVG icons missing aria-hidden throughout BulkActionBar, ApprovalButton, CommandPalette</a:t>
            </a:r>
            <a:endParaRPr/>
          </a:p>
        </p:txBody>
      </p:sp>
      <p:sp>
        <p:nvSpPr>
          <p:cNvPr id="614" name="Google Shape;614;p9"/>
          <p:cNvSpPr txBox="1"/>
          <p:nvPr/>
        </p:nvSpPr>
        <p:spPr>
          <a:xfrm>
            <a:off x="5120640" y="4081272"/>
            <a:ext cx="228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/>
          </a:p>
        </p:txBody>
      </p:sp>
      <p:sp>
        <p:nvSpPr>
          <p:cNvPr id="615" name="Google Shape;615;p9"/>
          <p:cNvSpPr txBox="1"/>
          <p:nvPr/>
        </p:nvSpPr>
        <p:spPr>
          <a:xfrm>
            <a:off x="5349240" y="4081272"/>
            <a:ext cx="3337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Merge dialog placeholder contrast ~3.2:1 (requires 4.5:1)</a:t>
            </a:r>
            <a:endParaRPr/>
          </a:p>
        </p:txBody>
      </p:sp>
      <p:sp>
        <p:nvSpPr>
          <p:cNvPr id="616" name="Google Shape;616;p9"/>
          <p:cNvSpPr txBox="1"/>
          <p:nvPr/>
        </p:nvSpPr>
        <p:spPr>
          <a:xfrm>
            <a:off x="8869680" y="80467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COLOR CONTRAST FAILURES</a:t>
            </a:r>
            <a:endParaRPr/>
          </a:p>
        </p:txBody>
      </p:sp>
      <p:sp>
        <p:nvSpPr>
          <p:cNvPr id="617" name="Google Shape;617;p9"/>
          <p:cNvSpPr/>
          <p:nvPr/>
        </p:nvSpPr>
        <p:spPr>
          <a:xfrm>
            <a:off x="8869680" y="1115568"/>
            <a:ext cx="685800" cy="292608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9"/>
          <p:cNvSpPr txBox="1"/>
          <p:nvPr/>
        </p:nvSpPr>
        <p:spPr>
          <a:xfrm>
            <a:off x="8869680" y="1133856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1.6:1</a:t>
            </a:r>
            <a:endParaRPr/>
          </a:p>
        </p:txBody>
      </p:sp>
      <p:sp>
        <p:nvSpPr>
          <p:cNvPr id="619" name="Google Shape;619;p9"/>
          <p:cNvSpPr txBox="1"/>
          <p:nvPr/>
        </p:nvSpPr>
        <p:spPr>
          <a:xfrm>
            <a:off x="9601200" y="115214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Editor title placeholder — needs 4.5:1</a:t>
            </a:r>
            <a:endParaRPr/>
          </a:p>
        </p:txBody>
      </p:sp>
      <p:sp>
        <p:nvSpPr>
          <p:cNvPr id="620" name="Google Shape;620;p9"/>
          <p:cNvSpPr/>
          <p:nvPr/>
        </p:nvSpPr>
        <p:spPr>
          <a:xfrm>
            <a:off x="8869680" y="1481328"/>
            <a:ext cx="685800" cy="292608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9"/>
          <p:cNvSpPr txBox="1"/>
          <p:nvPr/>
        </p:nvSpPr>
        <p:spPr>
          <a:xfrm>
            <a:off x="8869680" y="1499616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3.2:1</a:t>
            </a:r>
            <a:endParaRPr/>
          </a:p>
        </p:txBody>
      </p:sp>
      <p:sp>
        <p:nvSpPr>
          <p:cNvPr id="622" name="Google Shape;622;p9"/>
          <p:cNvSpPr txBox="1"/>
          <p:nvPr/>
        </p:nvSpPr>
        <p:spPr>
          <a:xfrm>
            <a:off x="9601200" y="151790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MergeProgramDialog search placeholder</a:t>
            </a:r>
            <a:endParaRPr/>
          </a:p>
        </p:txBody>
      </p:sp>
      <p:sp>
        <p:nvSpPr>
          <p:cNvPr id="623" name="Google Shape;623;p9"/>
          <p:cNvSpPr/>
          <p:nvPr/>
        </p:nvSpPr>
        <p:spPr>
          <a:xfrm>
            <a:off x="8869680" y="1847088"/>
            <a:ext cx="685800" cy="292608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9"/>
          <p:cNvSpPr txBox="1"/>
          <p:nvPr/>
        </p:nvSpPr>
        <p:spPr>
          <a:xfrm>
            <a:off x="8869680" y="1865376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3.2:1</a:t>
            </a:r>
            <a:endParaRPr/>
          </a:p>
        </p:txBody>
      </p:sp>
      <p:sp>
        <p:nvSpPr>
          <p:cNvPr id="625" name="Google Shape;625;p9"/>
          <p:cNvSpPr txBox="1"/>
          <p:nvPr/>
        </p:nvSpPr>
        <p:spPr>
          <a:xfrm>
            <a:off x="9601200" y="188366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MyWeekPage line numbers (text-muted/50)</a:t>
            </a:r>
            <a:endParaRPr/>
          </a:p>
        </p:txBody>
      </p:sp>
      <p:sp>
        <p:nvSpPr>
          <p:cNvPr id="626" name="Google Shape;626;p9"/>
          <p:cNvSpPr/>
          <p:nvPr/>
        </p:nvSpPr>
        <p:spPr>
          <a:xfrm>
            <a:off x="8869680" y="2212848"/>
            <a:ext cx="685800" cy="292608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9"/>
          <p:cNvSpPr txBox="1"/>
          <p:nvPr/>
        </p:nvSpPr>
        <p:spPr>
          <a:xfrm>
            <a:off x="8869680" y="2231136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3.2:1</a:t>
            </a:r>
            <a:endParaRPr/>
          </a:p>
        </p:txBody>
      </p:sp>
      <p:sp>
        <p:nvSpPr>
          <p:cNvPr id="628" name="Google Shape;628;p9"/>
          <p:cNvSpPr txBox="1"/>
          <p:nvPr/>
        </p:nvSpPr>
        <p:spPr>
          <a:xfrm>
            <a:off x="9601200" y="224942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Editor body placeholder (#525252 on #0d0d0d)</a:t>
            </a:r>
            <a:endParaRPr/>
          </a:p>
        </p:txBody>
      </p:sp>
      <p:sp>
        <p:nvSpPr>
          <p:cNvPr id="629" name="Google Shape;629;p9"/>
          <p:cNvSpPr/>
          <p:nvPr/>
        </p:nvSpPr>
        <p:spPr>
          <a:xfrm>
            <a:off x="8869680" y="2578608"/>
            <a:ext cx="685800" cy="292608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9"/>
          <p:cNvSpPr txBox="1"/>
          <p:nvPr/>
        </p:nvSpPr>
        <p:spPr>
          <a:xfrm>
            <a:off x="8869680" y="2596896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1.8:1</a:t>
            </a:r>
            <a:endParaRPr/>
          </a:p>
        </p:txBody>
      </p:sp>
      <p:sp>
        <p:nvSpPr>
          <p:cNvPr id="631" name="Google Shape;631;p9"/>
          <p:cNvSpPr txBox="1"/>
          <p:nvPr/>
        </p:nvSpPr>
        <p:spPr>
          <a:xfrm>
            <a:off x="9601200" y="261518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Disabled buttons (opacity-50 on bg-accent)</a:t>
            </a:r>
            <a:endParaRPr/>
          </a:p>
        </p:txBody>
      </p:sp>
      <p:sp>
        <p:nvSpPr>
          <p:cNvPr id="632" name="Google Shape;632;p9"/>
          <p:cNvSpPr txBox="1"/>
          <p:nvPr/>
        </p:nvSpPr>
        <p:spPr>
          <a:xfrm>
            <a:off x="8869675" y="3230875"/>
            <a:ext cx="312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TabBar arrow key navigation – User must tab instead of arrows</a:t>
            </a:r>
            <a:endParaRPr/>
          </a:p>
        </p:txBody>
      </p:sp>
      <p:sp>
        <p:nvSpPr>
          <p:cNvPr id="633" name="Google Shape;633;p9"/>
          <p:cNvSpPr txBox="1"/>
          <p:nvPr/>
        </p:nvSpPr>
        <p:spPr>
          <a:xfrm>
            <a:off x="8869680" y="3461580"/>
            <a:ext cx="301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SelectableList rows missing visible focus ring — Tab key users have no focus indicator</a:t>
            </a:r>
            <a:endParaRPr/>
          </a:p>
        </p:txBody>
      </p:sp>
      <p:sp>
        <p:nvSpPr>
          <p:cNvPr id="634" name="Google Shape;634;p9"/>
          <p:cNvSpPr/>
          <p:nvPr/>
        </p:nvSpPr>
        <p:spPr>
          <a:xfrm>
            <a:off x="548640" y="5332483"/>
            <a:ext cx="11064300" cy="18300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9"/>
          <p:cNvSpPr txBox="1"/>
          <p:nvPr/>
        </p:nvSpPr>
        <p:spPr>
          <a:xfrm>
            <a:off x="457200" y="5318760"/>
            <a:ext cx="11247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TARGET: 10+ point Lighthouse improvement on lowest-scoring pages (91→100) OR fix all Critical/Serious violations on 3 key pages</a:t>
            </a:r>
            <a:endParaRPr/>
          </a:p>
        </p:txBody>
      </p:sp>
      <p:sp>
        <p:nvSpPr>
          <p:cNvPr id="636" name="Google Shape;636;p9"/>
          <p:cNvSpPr txBox="1"/>
          <p:nvPr/>
        </p:nvSpPr>
        <p:spPr>
          <a:xfrm>
            <a:off x="457200" y="5684520"/>
            <a:ext cx="11247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Claims Section 508 + WCAG 2.1 AA compliance in README. 6 contrast failures and missing aria-labels across core components means these claims are currently unverified.</a:t>
            </a:r>
            <a:endParaRPr/>
          </a:p>
        </p:txBody>
      </p:sp>
      <p:sp>
        <p:nvSpPr>
          <p:cNvPr id="637" name="Google Shape;637;p9"/>
          <p:cNvSpPr txBox="1"/>
          <p:nvPr/>
        </p:nvSpPr>
        <p:spPr>
          <a:xfrm>
            <a:off x="8869665" y="2987278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Keyboard navigation issues</a:t>
            </a:r>
            <a:endParaRPr/>
          </a:p>
        </p:txBody>
      </p:sp>
      <p:sp>
        <p:nvSpPr>
          <p:cNvPr id="638" name="Google Shape;638;p9"/>
          <p:cNvSpPr txBox="1"/>
          <p:nvPr/>
        </p:nvSpPr>
        <p:spPr>
          <a:xfrm>
            <a:off x="8877785" y="3821225"/>
            <a:ext cx="31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KanbanBoard cards have focus:outline-none with no replacement – invisible to keyboard users</a:t>
            </a:r>
            <a:endParaRPr/>
          </a:p>
        </p:txBody>
      </p:sp>
      <p:sp>
        <p:nvSpPr>
          <p:cNvPr id="639" name="Google Shape;639;p9"/>
          <p:cNvSpPr txBox="1"/>
          <p:nvPr/>
        </p:nvSpPr>
        <p:spPr>
          <a:xfrm>
            <a:off x="8906285" y="4205513"/>
            <a:ext cx="31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DashboardSidebar buttons lack focus styling – No visible focus on sidebar toggle buttons</a:t>
            </a:r>
            <a:endParaRPr/>
          </a:p>
        </p:txBody>
      </p:sp>
      <p:sp>
        <p:nvSpPr>
          <p:cNvPr id="640" name="Google Shape;640;p9"/>
          <p:cNvSpPr txBox="1"/>
          <p:nvPr/>
        </p:nvSpPr>
        <p:spPr>
          <a:xfrm>
            <a:off x="8898180" y="4576850"/>
            <a:ext cx="3127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Combobox dropdowns (Person, Project, Program) arrow key nav unclear – Radix Popover provides some support but no explicit binding values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0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IMPROVEMENT TARGETS  —  PRIORITY MATRIX</a:t>
            </a:r>
            <a:endParaRPr/>
          </a:p>
        </p:txBody>
      </p:sp>
      <p:sp>
        <p:nvSpPr>
          <p:cNvPr id="647" name="Google Shape;647;p10"/>
          <p:cNvSpPr/>
          <p:nvPr/>
        </p:nvSpPr>
        <p:spPr>
          <a:xfrm>
            <a:off x="365760" y="841248"/>
            <a:ext cx="420624" cy="338328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0"/>
          <p:cNvSpPr txBox="1"/>
          <p:nvPr/>
        </p:nvSpPr>
        <p:spPr>
          <a:xfrm>
            <a:off x="429768" y="914400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/>
          </a:p>
        </p:txBody>
      </p:sp>
      <p:sp>
        <p:nvSpPr>
          <p:cNvPr id="649" name="Google Shape;649;p10"/>
          <p:cNvSpPr/>
          <p:nvPr/>
        </p:nvSpPr>
        <p:spPr>
          <a:xfrm>
            <a:off x="822960" y="841248"/>
            <a:ext cx="1609344" cy="338328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0"/>
          <p:cNvSpPr txBox="1"/>
          <p:nvPr/>
        </p:nvSpPr>
        <p:spPr>
          <a:xfrm>
            <a:off x="886968" y="914400"/>
            <a:ext cx="15179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/>
          </a:p>
        </p:txBody>
      </p:sp>
      <p:sp>
        <p:nvSpPr>
          <p:cNvPr id="651" name="Google Shape;651;p10"/>
          <p:cNvSpPr/>
          <p:nvPr/>
        </p:nvSpPr>
        <p:spPr>
          <a:xfrm>
            <a:off x="2468880" y="841248"/>
            <a:ext cx="5358384" cy="338328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0"/>
          <p:cNvSpPr txBox="1"/>
          <p:nvPr/>
        </p:nvSpPr>
        <p:spPr>
          <a:xfrm>
            <a:off x="2532888" y="914400"/>
            <a:ext cx="52669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Fix</a:t>
            </a:r>
            <a:endParaRPr/>
          </a:p>
        </p:txBody>
      </p:sp>
      <p:sp>
        <p:nvSpPr>
          <p:cNvPr id="653" name="Google Shape;653;p10"/>
          <p:cNvSpPr/>
          <p:nvPr/>
        </p:nvSpPr>
        <p:spPr>
          <a:xfrm>
            <a:off x="7863840" y="841248"/>
            <a:ext cx="1060704" cy="338328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0"/>
          <p:cNvSpPr txBox="1"/>
          <p:nvPr/>
        </p:nvSpPr>
        <p:spPr>
          <a:xfrm>
            <a:off x="7927848" y="914400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/>
          </a:p>
        </p:txBody>
      </p:sp>
      <p:sp>
        <p:nvSpPr>
          <p:cNvPr id="655" name="Google Shape;655;p10"/>
          <p:cNvSpPr/>
          <p:nvPr/>
        </p:nvSpPr>
        <p:spPr>
          <a:xfrm>
            <a:off x="8961120" y="841248"/>
            <a:ext cx="1060704" cy="338328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0"/>
          <p:cNvSpPr txBox="1"/>
          <p:nvPr/>
        </p:nvSpPr>
        <p:spPr>
          <a:xfrm>
            <a:off x="9025128" y="914400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Effort</a:t>
            </a:r>
            <a:endParaRPr/>
          </a:p>
        </p:txBody>
      </p:sp>
      <p:sp>
        <p:nvSpPr>
          <p:cNvPr id="657" name="Google Shape;657;p10"/>
          <p:cNvSpPr/>
          <p:nvPr/>
        </p:nvSpPr>
        <p:spPr>
          <a:xfrm>
            <a:off x="365760" y="1197864"/>
            <a:ext cx="42062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0"/>
          <p:cNvSpPr txBox="1"/>
          <p:nvPr/>
        </p:nvSpPr>
        <p:spPr>
          <a:xfrm>
            <a:off x="429768" y="1271016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59" name="Google Shape;659;p10"/>
          <p:cNvSpPr/>
          <p:nvPr/>
        </p:nvSpPr>
        <p:spPr>
          <a:xfrm>
            <a:off x="822960" y="1197864"/>
            <a:ext cx="160934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0"/>
          <p:cNvSpPr txBox="1"/>
          <p:nvPr/>
        </p:nvSpPr>
        <p:spPr>
          <a:xfrm>
            <a:off x="886968" y="1271016"/>
            <a:ext cx="15179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Bundle Size</a:t>
            </a:r>
            <a:endParaRPr/>
          </a:p>
        </p:txBody>
      </p:sp>
      <p:sp>
        <p:nvSpPr>
          <p:cNvPr id="661" name="Google Shape;661;p10"/>
          <p:cNvSpPr/>
          <p:nvPr/>
        </p:nvSpPr>
        <p:spPr>
          <a:xfrm>
            <a:off x="2468880" y="1197864"/>
            <a:ext cx="535838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0"/>
          <p:cNvSpPr txBox="1"/>
          <p:nvPr/>
        </p:nvSpPr>
        <p:spPr>
          <a:xfrm>
            <a:off x="2532888" y="1271016"/>
            <a:ext cx="52669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Remove d.content from issues list response (310 KB → 38 KB)</a:t>
            </a:r>
            <a:endParaRPr/>
          </a:p>
        </p:txBody>
      </p:sp>
      <p:sp>
        <p:nvSpPr>
          <p:cNvPr id="663" name="Google Shape;663;p10"/>
          <p:cNvSpPr/>
          <p:nvPr/>
        </p:nvSpPr>
        <p:spPr>
          <a:xfrm>
            <a:off x="7863840" y="1197864"/>
            <a:ext cx="106070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0"/>
          <p:cNvSpPr txBox="1"/>
          <p:nvPr/>
        </p:nvSpPr>
        <p:spPr>
          <a:xfrm>
            <a:off x="7927848" y="1271016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/>
          </a:p>
        </p:txBody>
      </p:sp>
      <p:sp>
        <p:nvSpPr>
          <p:cNvPr id="665" name="Google Shape;665;p10"/>
          <p:cNvSpPr/>
          <p:nvPr/>
        </p:nvSpPr>
        <p:spPr>
          <a:xfrm>
            <a:off x="8961120" y="1197864"/>
            <a:ext cx="106070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0"/>
          <p:cNvSpPr txBox="1"/>
          <p:nvPr/>
        </p:nvSpPr>
        <p:spPr>
          <a:xfrm>
            <a:off x="9025128" y="1271016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/>
          </a:p>
        </p:txBody>
      </p:sp>
      <p:sp>
        <p:nvSpPr>
          <p:cNvPr id="667" name="Google Shape;667;p10"/>
          <p:cNvSpPr/>
          <p:nvPr/>
        </p:nvSpPr>
        <p:spPr>
          <a:xfrm>
            <a:off x="365760" y="1554480"/>
            <a:ext cx="42062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0"/>
          <p:cNvSpPr txBox="1"/>
          <p:nvPr/>
        </p:nvSpPr>
        <p:spPr>
          <a:xfrm>
            <a:off x="429768" y="1627632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69" name="Google Shape;669;p10"/>
          <p:cNvSpPr/>
          <p:nvPr/>
        </p:nvSpPr>
        <p:spPr>
          <a:xfrm>
            <a:off x="822960" y="1554480"/>
            <a:ext cx="160934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0"/>
          <p:cNvSpPr txBox="1"/>
          <p:nvPr/>
        </p:nvSpPr>
        <p:spPr>
          <a:xfrm>
            <a:off x="886968" y="1627632"/>
            <a:ext cx="15179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Bundle Size</a:t>
            </a:r>
            <a:endParaRPr/>
          </a:p>
        </p:txBody>
      </p:sp>
      <p:sp>
        <p:nvSpPr>
          <p:cNvPr id="671" name="Google Shape;671;p10"/>
          <p:cNvSpPr/>
          <p:nvPr/>
        </p:nvSpPr>
        <p:spPr>
          <a:xfrm>
            <a:off x="2468880" y="1554480"/>
            <a:ext cx="535838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0"/>
          <p:cNvSpPr txBox="1"/>
          <p:nvPr/>
        </p:nvSpPr>
        <p:spPr>
          <a:xfrm>
            <a:off x="2532888" y="1627632"/>
            <a:ext cx="52669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Lazy-load emoji-picker-react + reduce highlight.js languages</a:t>
            </a:r>
            <a:endParaRPr/>
          </a:p>
        </p:txBody>
      </p:sp>
      <p:sp>
        <p:nvSpPr>
          <p:cNvPr id="673" name="Google Shape;673;p10"/>
          <p:cNvSpPr/>
          <p:nvPr/>
        </p:nvSpPr>
        <p:spPr>
          <a:xfrm>
            <a:off x="7863840" y="1554480"/>
            <a:ext cx="106070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0"/>
          <p:cNvSpPr txBox="1"/>
          <p:nvPr/>
        </p:nvSpPr>
        <p:spPr>
          <a:xfrm>
            <a:off x="7927848" y="1627632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/>
          </a:p>
        </p:txBody>
      </p:sp>
      <p:sp>
        <p:nvSpPr>
          <p:cNvPr id="675" name="Google Shape;675;p10"/>
          <p:cNvSpPr/>
          <p:nvPr/>
        </p:nvSpPr>
        <p:spPr>
          <a:xfrm>
            <a:off x="8961120" y="1554480"/>
            <a:ext cx="106070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0"/>
          <p:cNvSpPr txBox="1"/>
          <p:nvPr/>
        </p:nvSpPr>
        <p:spPr>
          <a:xfrm>
            <a:off x="9025128" y="1627632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/>
          </a:p>
        </p:txBody>
      </p:sp>
      <p:sp>
        <p:nvSpPr>
          <p:cNvPr id="677" name="Google Shape;677;p10"/>
          <p:cNvSpPr/>
          <p:nvPr/>
        </p:nvSpPr>
        <p:spPr>
          <a:xfrm>
            <a:off x="365760" y="1911095"/>
            <a:ext cx="42062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0"/>
          <p:cNvSpPr txBox="1"/>
          <p:nvPr/>
        </p:nvSpPr>
        <p:spPr>
          <a:xfrm>
            <a:off x="429768" y="1984248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79" name="Google Shape;679;p10"/>
          <p:cNvSpPr/>
          <p:nvPr/>
        </p:nvSpPr>
        <p:spPr>
          <a:xfrm>
            <a:off x="822960" y="1911095"/>
            <a:ext cx="160934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0"/>
          <p:cNvSpPr txBox="1"/>
          <p:nvPr/>
        </p:nvSpPr>
        <p:spPr>
          <a:xfrm>
            <a:off x="886968" y="1984248"/>
            <a:ext cx="15179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Test Coverage</a:t>
            </a:r>
            <a:endParaRPr/>
          </a:p>
        </p:txBody>
      </p:sp>
      <p:sp>
        <p:nvSpPr>
          <p:cNvPr id="681" name="Google Shape;681;p10"/>
          <p:cNvSpPr/>
          <p:nvPr/>
        </p:nvSpPr>
        <p:spPr>
          <a:xfrm>
            <a:off x="2468880" y="1911095"/>
            <a:ext cx="535838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0"/>
          <p:cNvSpPr txBox="1"/>
          <p:nvPr/>
        </p:nvSpPr>
        <p:spPr>
          <a:xfrm>
            <a:off x="2532888" y="1984248"/>
            <a:ext cx="52669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Pin get-port@6.1.2 + switch web tests to happy-dom</a:t>
            </a:r>
            <a:endParaRPr/>
          </a:p>
        </p:txBody>
      </p:sp>
      <p:sp>
        <p:nvSpPr>
          <p:cNvPr id="683" name="Google Shape;683;p10"/>
          <p:cNvSpPr/>
          <p:nvPr/>
        </p:nvSpPr>
        <p:spPr>
          <a:xfrm>
            <a:off x="7863840" y="1911095"/>
            <a:ext cx="106070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0"/>
          <p:cNvSpPr txBox="1"/>
          <p:nvPr/>
        </p:nvSpPr>
        <p:spPr>
          <a:xfrm>
            <a:off x="7927848" y="1984248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/>
          </a:p>
        </p:txBody>
      </p:sp>
      <p:sp>
        <p:nvSpPr>
          <p:cNvPr id="685" name="Google Shape;685;p10"/>
          <p:cNvSpPr/>
          <p:nvPr/>
        </p:nvSpPr>
        <p:spPr>
          <a:xfrm>
            <a:off x="8961120" y="1911095"/>
            <a:ext cx="106070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0"/>
          <p:cNvSpPr txBox="1"/>
          <p:nvPr/>
        </p:nvSpPr>
        <p:spPr>
          <a:xfrm>
            <a:off x="9025128" y="1984248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/>
          </a:p>
        </p:txBody>
      </p:sp>
      <p:sp>
        <p:nvSpPr>
          <p:cNvPr id="687" name="Google Shape;687;p10"/>
          <p:cNvSpPr/>
          <p:nvPr/>
        </p:nvSpPr>
        <p:spPr>
          <a:xfrm>
            <a:off x="365760" y="2267712"/>
            <a:ext cx="42062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0"/>
          <p:cNvSpPr txBox="1"/>
          <p:nvPr/>
        </p:nvSpPr>
        <p:spPr>
          <a:xfrm>
            <a:off x="429768" y="2340864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89" name="Google Shape;689;p10"/>
          <p:cNvSpPr/>
          <p:nvPr/>
        </p:nvSpPr>
        <p:spPr>
          <a:xfrm>
            <a:off x="822960" y="2267712"/>
            <a:ext cx="160934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0"/>
          <p:cNvSpPr txBox="1"/>
          <p:nvPr/>
        </p:nvSpPr>
        <p:spPr>
          <a:xfrm>
            <a:off x="886968" y="2340864"/>
            <a:ext cx="15179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API Response</a:t>
            </a:r>
            <a:endParaRPr/>
          </a:p>
        </p:txBody>
      </p:sp>
      <p:sp>
        <p:nvSpPr>
          <p:cNvPr id="691" name="Google Shape;691;p10"/>
          <p:cNvSpPr/>
          <p:nvPr/>
        </p:nvSpPr>
        <p:spPr>
          <a:xfrm>
            <a:off x="2468880" y="2267712"/>
            <a:ext cx="535838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0"/>
          <p:cNvSpPr txBox="1"/>
          <p:nvPr/>
        </p:nvSpPr>
        <p:spPr>
          <a:xfrm>
            <a:off x="2532888" y="2340864"/>
            <a:ext cx="52669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Parallelize dashboard/my-week sequential queries with Promise.all()</a:t>
            </a:r>
            <a:endParaRPr/>
          </a:p>
        </p:txBody>
      </p:sp>
      <p:sp>
        <p:nvSpPr>
          <p:cNvPr id="693" name="Google Shape;693;p10"/>
          <p:cNvSpPr/>
          <p:nvPr/>
        </p:nvSpPr>
        <p:spPr>
          <a:xfrm>
            <a:off x="7863840" y="2267712"/>
            <a:ext cx="106070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0"/>
          <p:cNvSpPr txBox="1"/>
          <p:nvPr/>
        </p:nvSpPr>
        <p:spPr>
          <a:xfrm>
            <a:off x="7927848" y="2340864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/>
          </a:p>
        </p:txBody>
      </p:sp>
      <p:sp>
        <p:nvSpPr>
          <p:cNvPr id="695" name="Google Shape;695;p10"/>
          <p:cNvSpPr/>
          <p:nvPr/>
        </p:nvSpPr>
        <p:spPr>
          <a:xfrm>
            <a:off x="8961120" y="2267712"/>
            <a:ext cx="106070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0"/>
          <p:cNvSpPr txBox="1"/>
          <p:nvPr/>
        </p:nvSpPr>
        <p:spPr>
          <a:xfrm>
            <a:off x="9025128" y="2340864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/>
          </a:p>
        </p:txBody>
      </p:sp>
      <p:sp>
        <p:nvSpPr>
          <p:cNvPr id="697" name="Google Shape;697;p10"/>
          <p:cNvSpPr/>
          <p:nvPr/>
        </p:nvSpPr>
        <p:spPr>
          <a:xfrm>
            <a:off x="365760" y="2624328"/>
            <a:ext cx="42062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0"/>
          <p:cNvSpPr txBox="1"/>
          <p:nvPr/>
        </p:nvSpPr>
        <p:spPr>
          <a:xfrm>
            <a:off x="429768" y="2697480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99" name="Google Shape;699;p10"/>
          <p:cNvSpPr/>
          <p:nvPr/>
        </p:nvSpPr>
        <p:spPr>
          <a:xfrm>
            <a:off x="822960" y="2624328"/>
            <a:ext cx="160934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0"/>
          <p:cNvSpPr txBox="1"/>
          <p:nvPr/>
        </p:nvSpPr>
        <p:spPr>
          <a:xfrm>
            <a:off x="886968" y="2697480"/>
            <a:ext cx="15179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Error Handling</a:t>
            </a:r>
            <a:endParaRPr/>
          </a:p>
        </p:txBody>
      </p:sp>
      <p:sp>
        <p:nvSpPr>
          <p:cNvPr id="701" name="Google Shape;701;p10"/>
          <p:cNvSpPr/>
          <p:nvPr/>
        </p:nvSpPr>
        <p:spPr>
          <a:xfrm>
            <a:off x="2468880" y="2624328"/>
            <a:ext cx="535838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0"/>
          <p:cNvSpPr txBox="1"/>
          <p:nvPr/>
        </p:nvSpPr>
        <p:spPr>
          <a:xfrm>
            <a:off x="2532888" y="2697480"/>
            <a:ext cx="52669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Add root ErrorBoundary in main.tsx + per-tab boundaries</a:t>
            </a:r>
            <a:endParaRPr/>
          </a:p>
        </p:txBody>
      </p:sp>
      <p:sp>
        <p:nvSpPr>
          <p:cNvPr id="703" name="Google Shape;703;p10"/>
          <p:cNvSpPr/>
          <p:nvPr/>
        </p:nvSpPr>
        <p:spPr>
          <a:xfrm>
            <a:off x="7863840" y="2624328"/>
            <a:ext cx="106070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0"/>
          <p:cNvSpPr txBox="1"/>
          <p:nvPr/>
        </p:nvSpPr>
        <p:spPr>
          <a:xfrm>
            <a:off x="7927848" y="2697480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/>
          </a:p>
        </p:txBody>
      </p:sp>
      <p:sp>
        <p:nvSpPr>
          <p:cNvPr id="705" name="Google Shape;705;p10"/>
          <p:cNvSpPr/>
          <p:nvPr/>
        </p:nvSpPr>
        <p:spPr>
          <a:xfrm>
            <a:off x="8961120" y="2624328"/>
            <a:ext cx="106070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0"/>
          <p:cNvSpPr txBox="1"/>
          <p:nvPr/>
        </p:nvSpPr>
        <p:spPr>
          <a:xfrm>
            <a:off x="9025128" y="2697480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/>
          </a:p>
        </p:txBody>
      </p:sp>
      <p:sp>
        <p:nvSpPr>
          <p:cNvPr id="707" name="Google Shape;707;p10"/>
          <p:cNvSpPr/>
          <p:nvPr/>
        </p:nvSpPr>
        <p:spPr>
          <a:xfrm>
            <a:off x="365760" y="2980944"/>
            <a:ext cx="42062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0"/>
          <p:cNvSpPr txBox="1"/>
          <p:nvPr/>
        </p:nvSpPr>
        <p:spPr>
          <a:xfrm>
            <a:off x="429768" y="3054096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09" name="Google Shape;709;p10"/>
          <p:cNvSpPr/>
          <p:nvPr/>
        </p:nvSpPr>
        <p:spPr>
          <a:xfrm>
            <a:off x="822960" y="2980944"/>
            <a:ext cx="160934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0"/>
          <p:cNvSpPr txBox="1"/>
          <p:nvPr/>
        </p:nvSpPr>
        <p:spPr>
          <a:xfrm>
            <a:off x="886968" y="3054096"/>
            <a:ext cx="15179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Error Handling</a:t>
            </a:r>
            <a:endParaRPr/>
          </a:p>
        </p:txBody>
      </p:sp>
      <p:sp>
        <p:nvSpPr>
          <p:cNvPr id="711" name="Google Shape;711;p10"/>
          <p:cNvSpPr/>
          <p:nvPr/>
        </p:nvSpPr>
        <p:spPr>
          <a:xfrm>
            <a:off x="2468880" y="2980944"/>
            <a:ext cx="535838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0"/>
          <p:cNvSpPr txBox="1"/>
          <p:nvPr/>
        </p:nvSpPr>
        <p:spPr>
          <a:xfrm>
            <a:off x="2532888" y="3054096"/>
            <a:ext cx="52669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Add process.on('unhandledRejection') + global Express error handler</a:t>
            </a:r>
            <a:endParaRPr/>
          </a:p>
        </p:txBody>
      </p:sp>
      <p:sp>
        <p:nvSpPr>
          <p:cNvPr id="713" name="Google Shape;713;p10"/>
          <p:cNvSpPr/>
          <p:nvPr/>
        </p:nvSpPr>
        <p:spPr>
          <a:xfrm>
            <a:off x="7863840" y="2980944"/>
            <a:ext cx="106070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0"/>
          <p:cNvSpPr txBox="1"/>
          <p:nvPr/>
        </p:nvSpPr>
        <p:spPr>
          <a:xfrm>
            <a:off x="7927848" y="3054096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/>
          </a:p>
        </p:txBody>
      </p:sp>
      <p:sp>
        <p:nvSpPr>
          <p:cNvPr id="715" name="Google Shape;715;p10"/>
          <p:cNvSpPr/>
          <p:nvPr/>
        </p:nvSpPr>
        <p:spPr>
          <a:xfrm>
            <a:off x="8961120" y="2980944"/>
            <a:ext cx="106070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0"/>
          <p:cNvSpPr txBox="1"/>
          <p:nvPr/>
        </p:nvSpPr>
        <p:spPr>
          <a:xfrm>
            <a:off x="9025128" y="3054096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/>
          </a:p>
        </p:txBody>
      </p:sp>
      <p:sp>
        <p:nvSpPr>
          <p:cNvPr id="717" name="Google Shape;717;p10"/>
          <p:cNvSpPr/>
          <p:nvPr/>
        </p:nvSpPr>
        <p:spPr>
          <a:xfrm>
            <a:off x="365760" y="3337560"/>
            <a:ext cx="42062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0"/>
          <p:cNvSpPr txBox="1"/>
          <p:nvPr/>
        </p:nvSpPr>
        <p:spPr>
          <a:xfrm>
            <a:off x="429768" y="3410712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719" name="Google Shape;719;p10"/>
          <p:cNvSpPr/>
          <p:nvPr/>
        </p:nvSpPr>
        <p:spPr>
          <a:xfrm>
            <a:off x="822960" y="3337560"/>
            <a:ext cx="160934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0"/>
          <p:cNvSpPr txBox="1"/>
          <p:nvPr/>
        </p:nvSpPr>
        <p:spPr>
          <a:xfrm>
            <a:off x="886968" y="3410712"/>
            <a:ext cx="15179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DB Efficiency</a:t>
            </a:r>
            <a:endParaRPr/>
          </a:p>
        </p:txBody>
      </p:sp>
      <p:sp>
        <p:nvSpPr>
          <p:cNvPr id="721" name="Google Shape;721;p10"/>
          <p:cNvSpPr/>
          <p:nvPr/>
        </p:nvSpPr>
        <p:spPr>
          <a:xfrm>
            <a:off x="2468880" y="3337560"/>
            <a:ext cx="535838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0"/>
          <p:cNvSpPr txBox="1"/>
          <p:nvPr/>
        </p:nvSpPr>
        <p:spPr>
          <a:xfrm>
            <a:off x="2532888" y="3410712"/>
            <a:ext cx="52669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Add index on api_tokens.token_hash</a:t>
            </a:r>
            <a:endParaRPr/>
          </a:p>
        </p:txBody>
      </p:sp>
      <p:sp>
        <p:nvSpPr>
          <p:cNvPr id="723" name="Google Shape;723;p10"/>
          <p:cNvSpPr/>
          <p:nvPr/>
        </p:nvSpPr>
        <p:spPr>
          <a:xfrm>
            <a:off x="7863840" y="3337560"/>
            <a:ext cx="106070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0"/>
          <p:cNvSpPr txBox="1"/>
          <p:nvPr/>
        </p:nvSpPr>
        <p:spPr>
          <a:xfrm>
            <a:off x="7927848" y="3410712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/>
          </a:p>
        </p:txBody>
      </p:sp>
      <p:sp>
        <p:nvSpPr>
          <p:cNvPr id="725" name="Google Shape;725;p10"/>
          <p:cNvSpPr/>
          <p:nvPr/>
        </p:nvSpPr>
        <p:spPr>
          <a:xfrm>
            <a:off x="8961120" y="3337560"/>
            <a:ext cx="106070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0"/>
          <p:cNvSpPr txBox="1"/>
          <p:nvPr/>
        </p:nvSpPr>
        <p:spPr>
          <a:xfrm>
            <a:off x="9025128" y="3410712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/>
          </a:p>
        </p:txBody>
      </p:sp>
      <p:sp>
        <p:nvSpPr>
          <p:cNvPr id="727" name="Google Shape;727;p10"/>
          <p:cNvSpPr/>
          <p:nvPr/>
        </p:nvSpPr>
        <p:spPr>
          <a:xfrm>
            <a:off x="365760" y="3694176"/>
            <a:ext cx="42062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0"/>
          <p:cNvSpPr txBox="1"/>
          <p:nvPr/>
        </p:nvSpPr>
        <p:spPr>
          <a:xfrm>
            <a:off x="429768" y="3767328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29" name="Google Shape;729;p10"/>
          <p:cNvSpPr/>
          <p:nvPr/>
        </p:nvSpPr>
        <p:spPr>
          <a:xfrm>
            <a:off x="822960" y="3694176"/>
            <a:ext cx="160934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0"/>
          <p:cNvSpPr txBox="1"/>
          <p:nvPr/>
        </p:nvSpPr>
        <p:spPr>
          <a:xfrm>
            <a:off x="886968" y="3767328"/>
            <a:ext cx="15179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Accessibility</a:t>
            </a:r>
            <a:endParaRPr/>
          </a:p>
        </p:txBody>
      </p:sp>
      <p:sp>
        <p:nvSpPr>
          <p:cNvPr id="731" name="Google Shape;731;p10"/>
          <p:cNvSpPr/>
          <p:nvPr/>
        </p:nvSpPr>
        <p:spPr>
          <a:xfrm>
            <a:off x="2468880" y="3694176"/>
            <a:ext cx="535838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0"/>
          <p:cNvSpPr txBox="1"/>
          <p:nvPr/>
        </p:nvSpPr>
        <p:spPr>
          <a:xfrm>
            <a:off x="2532888" y="3767328"/>
            <a:ext cx="52669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Fix 6 contrast failures + add aria-labels to 5 inputs</a:t>
            </a:r>
            <a:endParaRPr/>
          </a:p>
        </p:txBody>
      </p:sp>
      <p:sp>
        <p:nvSpPr>
          <p:cNvPr id="733" name="Google Shape;733;p10"/>
          <p:cNvSpPr/>
          <p:nvPr/>
        </p:nvSpPr>
        <p:spPr>
          <a:xfrm>
            <a:off x="7863840" y="3694176"/>
            <a:ext cx="106070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0"/>
          <p:cNvSpPr txBox="1"/>
          <p:nvPr/>
        </p:nvSpPr>
        <p:spPr>
          <a:xfrm>
            <a:off x="7927848" y="3767328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/>
          </a:p>
        </p:txBody>
      </p:sp>
      <p:sp>
        <p:nvSpPr>
          <p:cNvPr id="735" name="Google Shape;735;p10"/>
          <p:cNvSpPr/>
          <p:nvPr/>
        </p:nvSpPr>
        <p:spPr>
          <a:xfrm>
            <a:off x="8961120" y="3694176"/>
            <a:ext cx="106070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0"/>
          <p:cNvSpPr txBox="1"/>
          <p:nvPr/>
        </p:nvSpPr>
        <p:spPr>
          <a:xfrm>
            <a:off x="9025128" y="3767328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/>
          </a:p>
        </p:txBody>
      </p:sp>
      <p:sp>
        <p:nvSpPr>
          <p:cNvPr id="737" name="Google Shape;737;p10"/>
          <p:cNvSpPr/>
          <p:nvPr/>
        </p:nvSpPr>
        <p:spPr>
          <a:xfrm>
            <a:off x="365760" y="4050792"/>
            <a:ext cx="42062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0"/>
          <p:cNvSpPr txBox="1"/>
          <p:nvPr/>
        </p:nvSpPr>
        <p:spPr>
          <a:xfrm>
            <a:off x="429768" y="4123944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39" name="Google Shape;739;p10"/>
          <p:cNvSpPr/>
          <p:nvPr/>
        </p:nvSpPr>
        <p:spPr>
          <a:xfrm>
            <a:off x="822960" y="4050792"/>
            <a:ext cx="160934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0"/>
          <p:cNvSpPr txBox="1"/>
          <p:nvPr/>
        </p:nvSpPr>
        <p:spPr>
          <a:xfrm>
            <a:off x="886968" y="4123944"/>
            <a:ext cx="15179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Type Safety</a:t>
            </a:r>
            <a:endParaRPr/>
          </a:p>
        </p:txBody>
      </p:sp>
      <p:sp>
        <p:nvSpPr>
          <p:cNvPr id="741" name="Google Shape;741;p10"/>
          <p:cNvSpPr/>
          <p:nvPr/>
        </p:nvSpPr>
        <p:spPr>
          <a:xfrm>
            <a:off x="2468880" y="4050792"/>
            <a:ext cx="535838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0"/>
          <p:cNvSpPr txBox="1"/>
          <p:nvPr/>
        </p:nvSpPr>
        <p:spPr>
          <a:xfrm>
            <a:off x="2532888" y="4123944"/>
            <a:ext cx="52669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Typed row-mapper for pg queries — eliminates majority of 'as' casts</a:t>
            </a:r>
            <a:endParaRPr/>
          </a:p>
        </p:txBody>
      </p:sp>
      <p:sp>
        <p:nvSpPr>
          <p:cNvPr id="743" name="Google Shape;743;p10"/>
          <p:cNvSpPr/>
          <p:nvPr/>
        </p:nvSpPr>
        <p:spPr>
          <a:xfrm>
            <a:off x="7863840" y="4050792"/>
            <a:ext cx="106070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0"/>
          <p:cNvSpPr txBox="1"/>
          <p:nvPr/>
        </p:nvSpPr>
        <p:spPr>
          <a:xfrm>
            <a:off x="7927848" y="4123944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E096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/>
          </a:p>
        </p:txBody>
      </p:sp>
      <p:sp>
        <p:nvSpPr>
          <p:cNvPr id="745" name="Google Shape;745;p10"/>
          <p:cNvSpPr/>
          <p:nvPr/>
        </p:nvSpPr>
        <p:spPr>
          <a:xfrm>
            <a:off x="8961120" y="4050792"/>
            <a:ext cx="1060704" cy="338328"/>
          </a:xfrm>
          <a:prstGeom prst="rect">
            <a:avLst/>
          </a:prstGeom>
          <a:solidFill>
            <a:srgbClr val="0A16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0"/>
          <p:cNvSpPr txBox="1"/>
          <p:nvPr/>
        </p:nvSpPr>
        <p:spPr>
          <a:xfrm>
            <a:off x="9025128" y="4123944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/>
          </a:p>
        </p:txBody>
      </p:sp>
      <p:sp>
        <p:nvSpPr>
          <p:cNvPr id="747" name="Google Shape;747;p10"/>
          <p:cNvSpPr/>
          <p:nvPr/>
        </p:nvSpPr>
        <p:spPr>
          <a:xfrm>
            <a:off x="365760" y="4407408"/>
            <a:ext cx="42062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0"/>
          <p:cNvSpPr txBox="1"/>
          <p:nvPr/>
        </p:nvSpPr>
        <p:spPr>
          <a:xfrm>
            <a:off x="429768" y="4480560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749" name="Google Shape;749;p10"/>
          <p:cNvSpPr/>
          <p:nvPr/>
        </p:nvSpPr>
        <p:spPr>
          <a:xfrm>
            <a:off x="822960" y="4407408"/>
            <a:ext cx="160934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0"/>
          <p:cNvSpPr txBox="1"/>
          <p:nvPr/>
        </p:nvSpPr>
        <p:spPr>
          <a:xfrm>
            <a:off x="886968" y="4480560"/>
            <a:ext cx="15179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Bundle Size</a:t>
            </a:r>
            <a:endParaRPr/>
          </a:p>
        </p:txBody>
      </p:sp>
      <p:sp>
        <p:nvSpPr>
          <p:cNvPr id="751" name="Google Shape;751;p10"/>
          <p:cNvSpPr/>
          <p:nvPr/>
        </p:nvSpPr>
        <p:spPr>
          <a:xfrm>
            <a:off x="2468880" y="4407408"/>
            <a:ext cx="535838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0"/>
          <p:cNvSpPr txBox="1"/>
          <p:nvPr/>
        </p:nvSpPr>
        <p:spPr>
          <a:xfrm>
            <a:off x="2532888" y="4480560"/>
            <a:ext cx="52669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Route-level React.lazy() code splitting</a:t>
            </a:r>
            <a:endParaRPr/>
          </a:p>
        </p:txBody>
      </p:sp>
      <p:sp>
        <p:nvSpPr>
          <p:cNvPr id="753" name="Google Shape;753;p10"/>
          <p:cNvSpPr/>
          <p:nvPr/>
        </p:nvSpPr>
        <p:spPr>
          <a:xfrm>
            <a:off x="7863840" y="4407408"/>
            <a:ext cx="106070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0"/>
          <p:cNvSpPr txBox="1"/>
          <p:nvPr/>
        </p:nvSpPr>
        <p:spPr>
          <a:xfrm>
            <a:off x="7927848" y="4480560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/>
          </a:p>
        </p:txBody>
      </p:sp>
      <p:sp>
        <p:nvSpPr>
          <p:cNvPr id="755" name="Google Shape;755;p10"/>
          <p:cNvSpPr/>
          <p:nvPr/>
        </p:nvSpPr>
        <p:spPr>
          <a:xfrm>
            <a:off x="8961120" y="4407408"/>
            <a:ext cx="1060704" cy="3383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0"/>
          <p:cNvSpPr txBox="1"/>
          <p:nvPr/>
        </p:nvSpPr>
        <p:spPr>
          <a:xfrm>
            <a:off x="9025128" y="4480560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B800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/>
          </a:p>
        </p:txBody>
      </p:sp>
      <p:sp>
        <p:nvSpPr>
          <p:cNvPr id="757" name="Google Shape;757;p10"/>
          <p:cNvSpPr/>
          <p:nvPr/>
        </p:nvSpPr>
        <p:spPr>
          <a:xfrm>
            <a:off x="548640" y="4828032"/>
            <a:ext cx="11064240" cy="18288"/>
          </a:xfrm>
          <a:prstGeom prst="rect">
            <a:avLst/>
          </a:prstGeom>
          <a:solidFill>
            <a:srgbClr val="00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0"/>
          <p:cNvSpPr txBox="1"/>
          <p:nvPr/>
        </p:nvSpPr>
        <p:spPr>
          <a:xfrm>
            <a:off x="365760" y="491947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PHASE 2 GOAL</a:t>
            </a:r>
            <a:endParaRPr/>
          </a:p>
        </p:txBody>
      </p:sp>
      <p:sp>
        <p:nvSpPr>
          <p:cNvPr id="759" name="Google Shape;759;p10"/>
          <p:cNvSpPr txBox="1"/>
          <p:nvPr/>
        </p:nvSpPr>
        <p:spPr>
          <a:xfrm>
            <a:off x="2651760" y="4919472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Measurable improvement across all 7 categories with before/after evidence  ·  Final submission Sunday 11:59 PM</a:t>
            </a:r>
            <a:endParaRPr/>
          </a:p>
        </p:txBody>
      </p:sp>
      <p:sp>
        <p:nvSpPr>
          <p:cNvPr id="760" name="Google Shape;760;p10"/>
          <p:cNvSpPr/>
          <p:nvPr/>
        </p:nvSpPr>
        <p:spPr>
          <a:xfrm>
            <a:off x="365760" y="5321808"/>
            <a:ext cx="2240280" cy="5669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0"/>
          <p:cNvSpPr/>
          <p:nvPr/>
        </p:nvSpPr>
        <p:spPr>
          <a:xfrm>
            <a:off x="365760" y="5321808"/>
            <a:ext cx="2240280" cy="73152"/>
          </a:xfrm>
          <a:prstGeom prst="rect">
            <a:avLst/>
          </a:prstGeom>
          <a:solidFill>
            <a:srgbClr val="00C2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0"/>
          <p:cNvSpPr txBox="1"/>
          <p:nvPr/>
        </p:nvSpPr>
        <p:spPr>
          <a:xfrm>
            <a:off x="457200" y="5413248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Bundle: -20% initial load</a:t>
            </a:r>
            <a:endParaRPr/>
          </a:p>
        </p:txBody>
      </p:sp>
      <p:sp>
        <p:nvSpPr>
          <p:cNvPr id="763" name="Google Shape;763;p10"/>
          <p:cNvSpPr/>
          <p:nvPr/>
        </p:nvSpPr>
        <p:spPr>
          <a:xfrm>
            <a:off x="2724912" y="5321808"/>
            <a:ext cx="2240280" cy="5669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0"/>
          <p:cNvSpPr/>
          <p:nvPr/>
        </p:nvSpPr>
        <p:spPr>
          <a:xfrm>
            <a:off x="2724912" y="5321808"/>
            <a:ext cx="2240280" cy="73152"/>
          </a:xfrm>
          <a:prstGeom prst="rect">
            <a:avLst/>
          </a:prstGeom>
          <a:solidFill>
            <a:srgbClr val="00C2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0"/>
          <p:cNvSpPr txBox="1"/>
          <p:nvPr/>
        </p:nvSpPr>
        <p:spPr>
          <a:xfrm>
            <a:off x="2816352" y="5413248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API: -20% P95 on 2+ endpoints</a:t>
            </a:r>
            <a:endParaRPr/>
          </a:p>
        </p:txBody>
      </p:sp>
      <p:sp>
        <p:nvSpPr>
          <p:cNvPr id="766" name="Google Shape;766;p10"/>
          <p:cNvSpPr/>
          <p:nvPr/>
        </p:nvSpPr>
        <p:spPr>
          <a:xfrm>
            <a:off x="5084064" y="5321808"/>
            <a:ext cx="2240280" cy="5669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0"/>
          <p:cNvSpPr/>
          <p:nvPr/>
        </p:nvSpPr>
        <p:spPr>
          <a:xfrm>
            <a:off x="5084064" y="5321808"/>
            <a:ext cx="2240280" cy="73152"/>
          </a:xfrm>
          <a:prstGeom prst="rect">
            <a:avLst/>
          </a:prstGeom>
          <a:solidFill>
            <a:srgbClr val="00C2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0"/>
          <p:cNvSpPr txBox="1"/>
          <p:nvPr/>
        </p:nvSpPr>
        <p:spPr>
          <a:xfrm>
            <a:off x="5175504" y="5413248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Tests: Fix ESM conflicts, unblock 1,333 tests</a:t>
            </a:r>
            <a:endParaRPr/>
          </a:p>
        </p:txBody>
      </p:sp>
      <p:sp>
        <p:nvSpPr>
          <p:cNvPr id="769" name="Google Shape;769;p10"/>
          <p:cNvSpPr/>
          <p:nvPr/>
        </p:nvSpPr>
        <p:spPr>
          <a:xfrm>
            <a:off x="7443216" y="5321808"/>
            <a:ext cx="2240280" cy="5669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0"/>
          <p:cNvSpPr/>
          <p:nvPr/>
        </p:nvSpPr>
        <p:spPr>
          <a:xfrm>
            <a:off x="7443216" y="5321808"/>
            <a:ext cx="2240280" cy="73152"/>
          </a:xfrm>
          <a:prstGeom prst="rect">
            <a:avLst/>
          </a:prstGeom>
          <a:solidFill>
            <a:srgbClr val="00C2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0"/>
          <p:cNvSpPr txBox="1"/>
          <p:nvPr/>
        </p:nvSpPr>
        <p:spPr>
          <a:xfrm>
            <a:off x="7534656" y="5413248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Errors: Fix 3 data-loss-risk gaps</a:t>
            </a:r>
            <a:endParaRPr/>
          </a:p>
        </p:txBody>
      </p:sp>
      <p:sp>
        <p:nvSpPr>
          <p:cNvPr id="772" name="Google Shape;772;p10"/>
          <p:cNvSpPr/>
          <p:nvPr/>
        </p:nvSpPr>
        <p:spPr>
          <a:xfrm>
            <a:off x="9802368" y="5321808"/>
            <a:ext cx="2240280" cy="566928"/>
          </a:xfrm>
          <a:prstGeom prst="rect">
            <a:avLst/>
          </a:prstGeom>
          <a:solidFill>
            <a:srgbClr val="0F1E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0"/>
          <p:cNvSpPr/>
          <p:nvPr/>
        </p:nvSpPr>
        <p:spPr>
          <a:xfrm>
            <a:off x="9802368" y="5321808"/>
            <a:ext cx="2240280" cy="73152"/>
          </a:xfrm>
          <a:prstGeom prst="rect">
            <a:avLst/>
          </a:prstGeom>
          <a:solidFill>
            <a:srgbClr val="00C2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0"/>
          <p:cNvSpPr txBox="1"/>
          <p:nvPr/>
        </p:nvSpPr>
        <p:spPr>
          <a:xfrm>
            <a:off x="9893808" y="5413248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0DDF0"/>
                </a:solidFill>
                <a:latin typeface="Calibri"/>
                <a:ea typeface="Calibri"/>
                <a:cs typeface="Calibri"/>
                <a:sym typeface="Calibri"/>
              </a:rPr>
              <a:t>Accessibility: Clear all Critical/Serious violations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